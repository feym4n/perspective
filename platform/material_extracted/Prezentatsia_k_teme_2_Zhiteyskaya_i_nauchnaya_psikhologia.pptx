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>
      <p:cViewPr varScale="1">
        <p:scale>
          <a:sx n="64" d="100"/>
          <a:sy n="64" d="100"/>
        </p:scale>
        <p:origin x="900" y="72"/>
      </p:cViewPr>
      <p:guideLst>
        <p:guide pos="2160" orient="horz"/>
        <p:guide pos="3840"/>
      </p:guideLst>
    </p:cSldViewPr>
  </p:slideViewPr>
  <p:gridSpacing cx="45000" cy="450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" name="Прямоугольник 5"/>
          <p:cNvSpPr/>
          <p:nvPr userDrawn="1"/>
        </p:nvSpPr>
        <p:spPr bwMode="auto"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 bwMode="auto">
          <a:xfrm>
            <a:off x="12450" y="6772425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grpSp>
        <p:nvGrpSpPr>
          <p:cNvPr id="9" name="Группа 8"/>
          <p:cNvGrpSpPr/>
          <p:nvPr userDrawn="1"/>
        </p:nvGrpSpPr>
        <p:grpSpPr bwMode="auto">
          <a:xfrm>
            <a:off x="0" y="49500"/>
            <a:ext cx="2844750" cy="274500"/>
            <a:chOff x="5228062" y="49500"/>
            <a:chExt cx="2844750" cy="274500"/>
          </a:xfrm>
          <a:solidFill>
            <a:schemeClr val="accent2"/>
          </a:solidFill>
        </p:grpSpPr>
        <p:sp>
          <p:nvSpPr>
            <p:cNvPr id="10" name="Прямоугольник 9"/>
            <p:cNvSpPr/>
            <p:nvPr userDrawn="1"/>
          </p:nvSpPr>
          <p:spPr bwMode="auto">
            <a:xfrm>
              <a:off x="5228062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1" name="Блок-схема: объединение 10"/>
            <p:cNvSpPr/>
            <p:nvPr userDrawn="1"/>
          </p:nvSpPr>
          <p:spPr bwMode="auto">
            <a:xfrm>
              <a:off x="7465312" y="49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2" name="Группа 11"/>
          <p:cNvGrpSpPr/>
          <p:nvPr userDrawn="1"/>
        </p:nvGrpSpPr>
        <p:grpSpPr bwMode="auto">
          <a:xfrm>
            <a:off x="9382650" y="6596925"/>
            <a:ext cx="2844750" cy="274500"/>
            <a:chOff x="9347250" y="6571200"/>
            <a:chExt cx="2844750" cy="274500"/>
          </a:xfrm>
          <a:solidFill>
            <a:schemeClr val="accent2"/>
          </a:solidFill>
        </p:grpSpPr>
        <p:sp>
          <p:nvSpPr>
            <p:cNvPr id="13" name="Прямоугольник 12"/>
            <p:cNvSpPr/>
            <p:nvPr userDrawn="1"/>
          </p:nvSpPr>
          <p:spPr bwMode="auto">
            <a:xfrm>
              <a:off x="9651000" y="65712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4" name="Блок-схема: объединение 13"/>
            <p:cNvSpPr/>
            <p:nvPr userDrawn="1"/>
          </p:nvSpPr>
          <p:spPr bwMode="auto">
            <a:xfrm rot="10800000">
              <a:off x="9347250" y="65712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16" name="Текст 18"/>
          <p:cNvSpPr>
            <a:spLocks noGrp="1"/>
          </p:cNvSpPr>
          <p:nvPr>
            <p:ph type="body" sz="quarter" idx="14"/>
          </p:nvPr>
        </p:nvSpPr>
        <p:spPr bwMode="auto">
          <a:xfrm>
            <a:off x="838200" y="2033588"/>
            <a:ext cx="10444163" cy="4049712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5998" y="365125"/>
            <a:ext cx="5257801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90FB3E60-2F82-4C12-95B3-7ACC1B0E5862}" type="datetimeFigureOut">
              <a:rPr lang="ru-RU"/>
              <a:t/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 bwMode="auto"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 bwMode="auto">
          <a:xfrm>
            <a:off x="12450" y="6772425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20850" y="-575"/>
            <a:ext cx="5186362" cy="68585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grpSp>
        <p:nvGrpSpPr>
          <p:cNvPr id="9" name="Группа 8"/>
          <p:cNvGrpSpPr/>
          <p:nvPr userDrawn="1"/>
        </p:nvGrpSpPr>
        <p:grpSpPr bwMode="auto">
          <a:xfrm>
            <a:off x="5207212" y="36075"/>
            <a:ext cx="2844750" cy="274500"/>
            <a:chOff x="5228062" y="49500"/>
            <a:chExt cx="2844750" cy="274500"/>
          </a:xfrm>
          <a:solidFill>
            <a:schemeClr val="accent2"/>
          </a:solidFill>
        </p:grpSpPr>
        <p:sp>
          <p:nvSpPr>
            <p:cNvPr id="10" name="Прямоугольник 9"/>
            <p:cNvSpPr/>
            <p:nvPr userDrawn="1"/>
          </p:nvSpPr>
          <p:spPr bwMode="auto">
            <a:xfrm>
              <a:off x="5228062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11" name="Блок-схема: объединение 10"/>
            <p:cNvSpPr/>
            <p:nvPr userDrawn="1"/>
          </p:nvSpPr>
          <p:spPr bwMode="auto">
            <a:xfrm>
              <a:off x="7465312" y="49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2" name="Группа 11"/>
          <p:cNvGrpSpPr/>
          <p:nvPr userDrawn="1"/>
        </p:nvGrpSpPr>
        <p:grpSpPr bwMode="auto">
          <a:xfrm>
            <a:off x="9382650" y="6596925"/>
            <a:ext cx="2844750" cy="274500"/>
            <a:chOff x="9347250" y="6571200"/>
            <a:chExt cx="2844750" cy="274500"/>
          </a:xfrm>
          <a:solidFill>
            <a:schemeClr val="accent2"/>
          </a:solidFill>
        </p:grpSpPr>
        <p:sp>
          <p:nvSpPr>
            <p:cNvPr id="13" name="Прямоугольник 12"/>
            <p:cNvSpPr/>
            <p:nvPr userDrawn="1"/>
          </p:nvSpPr>
          <p:spPr bwMode="auto">
            <a:xfrm>
              <a:off x="9651000" y="65712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14" name="Блок-схема: объединение 13"/>
            <p:cNvSpPr/>
            <p:nvPr userDrawn="1"/>
          </p:nvSpPr>
          <p:spPr bwMode="auto">
            <a:xfrm rot="10800000">
              <a:off x="9347250" y="65712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  <p:sp>
        <p:nvSpPr>
          <p:cNvPr id="16" name="Текст 18"/>
          <p:cNvSpPr>
            <a:spLocks noGrp="1"/>
          </p:cNvSpPr>
          <p:nvPr>
            <p:ph type="body" sz="quarter" idx="14"/>
          </p:nvPr>
        </p:nvSpPr>
        <p:spPr bwMode="auto">
          <a:xfrm>
            <a:off x="6096000" y="2033588"/>
            <a:ext cx="5186363" cy="404971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устой слайд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 bwMode="auto"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 bwMode="auto">
          <a:xfrm>
            <a:off x="0" y="675900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grpSp>
        <p:nvGrpSpPr>
          <p:cNvPr id="7" name="Группа 6"/>
          <p:cNvGrpSpPr/>
          <p:nvPr userDrawn="1"/>
        </p:nvGrpSpPr>
        <p:grpSpPr bwMode="auto">
          <a:xfrm>
            <a:off x="4161000" y="150"/>
            <a:ext cx="2844750" cy="286020"/>
            <a:chOff x="9347250" y="37980"/>
            <a:chExt cx="2844750" cy="286020"/>
          </a:xfrm>
          <a:solidFill>
            <a:schemeClr val="accent2"/>
          </a:solidFill>
        </p:grpSpPr>
        <p:sp>
          <p:nvSpPr>
            <p:cNvPr id="8" name="Прямоугольник 7"/>
            <p:cNvSpPr/>
            <p:nvPr userDrawn="1"/>
          </p:nvSpPr>
          <p:spPr bwMode="auto">
            <a:xfrm>
              <a:off x="9651000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9" name="Блок-схема: объединение 8"/>
            <p:cNvSpPr/>
            <p:nvPr userDrawn="1"/>
          </p:nvSpPr>
          <p:spPr bwMode="auto">
            <a:xfrm>
              <a:off x="9347250" y="3798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0" name="Группа 9"/>
          <p:cNvGrpSpPr/>
          <p:nvPr userDrawn="1"/>
        </p:nvGrpSpPr>
        <p:grpSpPr bwMode="auto">
          <a:xfrm>
            <a:off x="-35250" y="6583500"/>
            <a:ext cx="2844750" cy="274500"/>
            <a:chOff x="-35250" y="6583500"/>
            <a:chExt cx="2844750" cy="274500"/>
          </a:xfrm>
          <a:solidFill>
            <a:schemeClr val="accent2"/>
          </a:solidFill>
        </p:grpSpPr>
        <p:sp>
          <p:nvSpPr>
            <p:cNvPr id="11" name="Прямоугольник 10"/>
            <p:cNvSpPr/>
            <p:nvPr userDrawn="1"/>
          </p:nvSpPr>
          <p:spPr bwMode="auto">
            <a:xfrm>
              <a:off x="-35250" y="6583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12" name="Блок-схема: объединение 11"/>
            <p:cNvSpPr/>
            <p:nvPr userDrawn="1"/>
          </p:nvSpPr>
          <p:spPr bwMode="auto">
            <a:xfrm rot="10800000">
              <a:off x="2202000" y="6583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7005638" y="9000"/>
            <a:ext cx="5186362" cy="333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Заголовок 16"/>
          <p:cNvSpPr>
            <a:spLocks noGrp="1"/>
          </p:cNvSpPr>
          <p:nvPr>
            <p:ph type="title"/>
          </p:nvPr>
        </p:nvSpPr>
        <p:spPr bwMode="auto">
          <a:xfrm>
            <a:off x="664987" y="485501"/>
            <a:ext cx="5257800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" name="Текст 18"/>
          <p:cNvSpPr>
            <a:spLocks noGrp="1"/>
          </p:cNvSpPr>
          <p:nvPr>
            <p:ph type="body" sz="quarter" idx="11"/>
          </p:nvPr>
        </p:nvSpPr>
        <p:spPr bwMode="auto">
          <a:xfrm>
            <a:off x="664987" y="2153964"/>
            <a:ext cx="5186363" cy="404971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12"/>
          </p:nvPr>
        </p:nvSpPr>
        <p:spPr bwMode="auto">
          <a:xfrm>
            <a:off x="6984638" y="3519000"/>
            <a:ext cx="5186362" cy="333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" name="Прямоугольник 9"/>
          <p:cNvSpPr/>
          <p:nvPr userDrawn="1"/>
        </p:nvSpPr>
        <p:spPr bwMode="auto"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sp>
        <p:nvSpPr>
          <p:cNvPr id="11" name="Прямоугольник 10"/>
          <p:cNvSpPr/>
          <p:nvPr userDrawn="1"/>
        </p:nvSpPr>
        <p:spPr bwMode="auto">
          <a:xfrm>
            <a:off x="0" y="675900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grpSp>
        <p:nvGrpSpPr>
          <p:cNvPr id="12" name="Группа 11"/>
          <p:cNvGrpSpPr/>
          <p:nvPr userDrawn="1"/>
        </p:nvGrpSpPr>
        <p:grpSpPr bwMode="auto">
          <a:xfrm>
            <a:off x="9347250" y="37980"/>
            <a:ext cx="2844750" cy="286020"/>
            <a:chOff x="9347250" y="37980"/>
            <a:chExt cx="2844750" cy="286020"/>
          </a:xfrm>
          <a:solidFill>
            <a:schemeClr val="accent2"/>
          </a:solidFill>
        </p:grpSpPr>
        <p:sp>
          <p:nvSpPr>
            <p:cNvPr id="13" name="Прямоугольник 12"/>
            <p:cNvSpPr/>
            <p:nvPr userDrawn="1"/>
          </p:nvSpPr>
          <p:spPr bwMode="auto">
            <a:xfrm>
              <a:off x="9651000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14" name="Блок-схема: объединение 13"/>
            <p:cNvSpPr/>
            <p:nvPr userDrawn="1"/>
          </p:nvSpPr>
          <p:spPr bwMode="auto">
            <a:xfrm>
              <a:off x="9347250" y="3798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5" name="Группа 14"/>
          <p:cNvGrpSpPr/>
          <p:nvPr userDrawn="1"/>
        </p:nvGrpSpPr>
        <p:grpSpPr bwMode="auto">
          <a:xfrm>
            <a:off x="-35250" y="6583500"/>
            <a:ext cx="2844750" cy="274500"/>
            <a:chOff x="-35250" y="6583500"/>
            <a:chExt cx="2844750" cy="274500"/>
          </a:xfrm>
          <a:solidFill>
            <a:schemeClr val="accent2"/>
          </a:solidFill>
        </p:grpSpPr>
        <p:sp>
          <p:nvSpPr>
            <p:cNvPr id="16" name="Прямоугольник 15"/>
            <p:cNvSpPr/>
            <p:nvPr userDrawn="1"/>
          </p:nvSpPr>
          <p:spPr bwMode="auto">
            <a:xfrm>
              <a:off x="-35250" y="6583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17" name="Блок-схема: объединение 16"/>
            <p:cNvSpPr/>
            <p:nvPr userDrawn="1"/>
          </p:nvSpPr>
          <p:spPr bwMode="auto">
            <a:xfrm rot="10800000">
              <a:off x="2202000" y="6583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льзовательский макет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Заголовок 11"/>
          <p:cNvSpPr>
            <a:spLocks noGrp="1"/>
          </p:cNvSpPr>
          <p:nvPr>
            <p:ph type="title"/>
          </p:nvPr>
        </p:nvSpPr>
        <p:spPr bwMode="auto">
          <a:xfrm>
            <a:off x="425450" y="234000"/>
            <a:ext cx="11341100" cy="10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25450" y="23034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95341" y="23034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Рисунок 2"/>
          <p:cNvSpPr>
            <a:spLocks noGrp="1"/>
          </p:cNvSpPr>
          <p:nvPr>
            <p:ph type="pic" sz="quarter" idx="15"/>
          </p:nvPr>
        </p:nvSpPr>
        <p:spPr bwMode="auto">
          <a:xfrm>
            <a:off x="8761675" y="2303463"/>
            <a:ext cx="3004875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425450" y="4058163"/>
            <a:ext cx="3004875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606109" y="40581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7776000" y="40581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" name="Текст 4"/>
          <p:cNvSpPr>
            <a:spLocks noGrp="1"/>
          </p:cNvSpPr>
          <p:nvPr>
            <p:ph type="body" sz="quarter" idx="19"/>
          </p:nvPr>
        </p:nvSpPr>
        <p:spPr bwMode="auto">
          <a:xfrm>
            <a:off x="439739" y="1493838"/>
            <a:ext cx="11341100" cy="627062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hyperlink" Target="https://presentation-creation.ru/" TargetMode="Externa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  <p:pic>
        <p:nvPicPr>
          <p:cNvPr id="7" name="Рисунок 6">
            <a:hlinkClick r:id="rId18"/>
          </p:cNvPr>
          <p:cNvPicPr>
            <a:picLocks noChangeAspect="1"/>
          </p:cNvPicPr>
          <p:nvPr userDrawn="1"/>
        </p:nvPicPr>
        <p:blipFill>
          <a:blip r:embed="rId19"/>
          <a:stretch/>
        </p:blipFill>
        <p:spPr bwMode="auto">
          <a:xfrm>
            <a:off x="-1194000" y="367393"/>
            <a:ext cx="757762" cy="757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3971" y="2774373"/>
            <a:ext cx="7021279" cy="3414726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>
          <a:xfrm flipH="0" flipV="0">
            <a:off x="471000" y="15079"/>
            <a:ext cx="10445625" cy="139926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sz="4800" b="1" i="0" u="none">
                <a:solidFill>
                  <a:srgbClr val="34343C"/>
                </a:solidFill>
                <a:latin typeface="Liberation Sans"/>
                <a:ea typeface="Liberation Sans"/>
                <a:cs typeface="Liberation Sans"/>
              </a:rPr>
              <a:t>Житейская и научная психология</a:t>
            </a:r>
            <a:endParaRPr sz="17000" b="1"/>
          </a:p>
        </p:txBody>
      </p:sp>
      <p:sp>
        <p:nvSpPr>
          <p:cNvPr id="1873613328" name="Текст 2"/>
          <p:cNvSpPr>
            <a:spLocks noGrp="1"/>
          </p:cNvSpPr>
          <p:nvPr>
            <p:ph type="body" idx="1"/>
          </p:nvPr>
        </p:nvSpPr>
        <p:spPr bwMode="auto">
          <a:xfrm flipH="0" flipV="0">
            <a:off x="241300" y="1874838"/>
            <a:ext cx="5617550" cy="404018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Психология как область знаний существует в двух формах, которые </a:t>
            </a: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дополняют друг друга: это житейская психология (стихийный опыт) и </a:t>
            </a: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научная психология (системное знание).</a:t>
            </a:r>
            <a:endParaRPr sz="2600" b="0" i="0" u="none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4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Житейская психология</a:t>
            </a:r>
            <a:endParaRPr b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628650" y="2124075"/>
            <a:ext cx="10444163" cy="376872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Житейская психология — это психологические знания, которые человек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накапливает стихийно, в процессе своей повседневной жизни, общения с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людьми и личного опыта. Её также называют практической психологией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здравого смысла.</a:t>
            </a:r>
            <a:endParaRPr sz="12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>
          <a:xfrm flipH="0" flipV="0">
            <a:off x="5487375" y="365125"/>
            <a:ext cx="6467474" cy="1325563"/>
          </a:xfrm>
        </p:spPr>
        <p:txBody>
          <a:bodyPr/>
          <a:lstStyle/>
          <a:p>
            <a:pPr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Примеры житейской психологии</a:t>
            </a:r>
            <a:endParaRPr lang="ru-RU" sz="4800"/>
          </a:p>
        </p:txBody>
      </p:sp>
      <p:pic>
        <p:nvPicPr>
          <p:cNvPr id="8" name="Рисунок 7"/>
          <p:cNvPicPr>
            <a:picLocks noChangeAspect="1" noGrp="1"/>
          </p:cNvPicPr>
          <p:nvPr>
            <p:ph type="pic" sz="quarter" idx="13"/>
          </p:nvPr>
        </p:nvPicPr>
        <p:blipFill>
          <a:blip r:embed="rId2"/>
          <a:stretch/>
        </p:blipFill>
        <p:spPr bwMode="auto"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5611200" y="1495425"/>
            <a:ext cx="6057899" cy="45878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>
              <a:lnSpc>
                <a:spcPct val="150000"/>
              </a:lnSpc>
              <a:defRPr/>
            </a:pP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Фольклор: Пословицы и поговорки, обобщающие наблюдения за людьми </a:t>
            </a: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(например, «Доверяй, но проверяй», «С глаз долой — из сердца вон»).</a:t>
            </a:r>
            <a:endParaRPr sz="12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Личный опыт: Знание конкретного человека о том, как лучше попросить </a:t>
            </a: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повышения у конкретного начальника или как утешить именно своего </a:t>
            </a: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друга.</a:t>
            </a:r>
            <a:endParaRPr sz="12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Традиции и обычаи: Правила поведения в семье или обществе, </a:t>
            </a: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передающиеся из поколения в поколение.</a:t>
            </a:r>
            <a:endParaRPr sz="12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Интуитивные выводы: Способность «чувствовать» обстановку в </a:t>
            </a:r>
            <a:r>
              <a:rPr sz="2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компании или угадывать настроение близкого человека без слов.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 noGrp="1"/>
          </p:cNvPicPr>
          <p:nvPr>
            <p:ph type="pic" sz="quarter" idx="10"/>
          </p:nvPr>
        </p:nvPicPr>
        <p:blipFill>
          <a:blip r:embed="rId2"/>
          <a:stretch/>
        </p:blipFill>
        <p:spPr bwMode="auto">
          <a:prstGeom prst="rect">
            <a:avLst/>
          </a:prstGeom>
        </p:spPr>
      </p:pic>
      <p:sp>
        <p:nvSpPr>
          <p:cNvPr id="13" name="Заголовок 12"/>
          <p:cNvSpPr>
            <a:spLocks noGrp="1"/>
          </p:cNvSpPr>
          <p:nvPr>
            <p:ph type="title"/>
          </p:nvPr>
        </p:nvSpPr>
        <p:spPr bwMode="auto">
          <a:xfrm flipH="0" flipV="0">
            <a:off x="239099" y="485501"/>
            <a:ext cx="6381750" cy="1325563"/>
          </a:xfrm>
        </p:spPr>
        <p:txBody>
          <a:bodyPr/>
          <a:lstStyle/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Преимущества житейской психологии</a:t>
            </a:r>
            <a:endParaRPr lang="ru-RU" sz="480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1"/>
          </p:nvPr>
        </p:nvSpPr>
        <p:spPr bwMode="auto">
          <a:xfrm flipH="0" flipV="0">
            <a:off x="664987" y="1600199"/>
            <a:ext cx="5186363" cy="460347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Конкретность и практичность: Знания привязаны к реальным жизненным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ситуациям и дают готовые рецепты действий («Если случилось А, делай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Б»).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Доступность: Не требует специального образования, формируется сама с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обой с опытом.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Широта охвата: Житейский опыт учитывает огромное количество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нюансов, которые сложно воспроизвести в лаборатории.</a:t>
            </a:r>
            <a:endParaRPr sz="8000">
              <a:solidFill>
                <a:schemeClr val="tx1"/>
              </a:solidFill>
            </a:endParaRPr>
          </a:p>
        </p:txBody>
      </p:sp>
      <p:pic>
        <p:nvPicPr>
          <p:cNvPr id="20" name="Рисунок 19"/>
          <p:cNvPicPr>
            <a:picLocks noChangeAspect="1" noGrp="1"/>
          </p:cNvPicPr>
          <p:nvPr>
            <p:ph type="pic" sz="quarter" idx="12"/>
          </p:nvPr>
        </p:nvPicPr>
        <p:blipFill>
          <a:blip r:embed="rId3"/>
          <a:stretch/>
        </p:blipFill>
        <p:spPr bwMode="auto"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 flipH="0" flipV="0">
            <a:off x="425450" y="234000"/>
            <a:ext cx="11341100" cy="8883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sz="3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Научная психология</a:t>
            </a:r>
            <a:endParaRPr lang="ru-RU" b="1"/>
          </a:p>
        </p:txBody>
      </p:sp>
      <p:pic>
        <p:nvPicPr>
          <p:cNvPr id="15" name="Рисунок 14"/>
          <p:cNvPicPr>
            <a:picLocks noChangeAspect="1" noGrp="1"/>
          </p:cNvPicPr>
          <p:nvPr>
            <p:ph type="pic" sz="quarter" idx="13"/>
          </p:nvPr>
        </p:nvPicPr>
        <p:blipFill>
          <a:blip r:embed="rId2"/>
          <a:stretch/>
        </p:blipFill>
        <p:spPr bwMode="auto">
          <a:prstGeom prst="rect">
            <a:avLst/>
          </a:prstGeom>
        </p:spPr>
      </p:pic>
      <p:pic>
        <p:nvPicPr>
          <p:cNvPr id="17" name="Рисунок 16"/>
          <p:cNvPicPr>
            <a:picLocks noChangeAspect="1" noGrp="1"/>
          </p:cNvPicPr>
          <p:nvPr>
            <p:ph type="pic" sz="quarter" idx="14"/>
          </p:nvPr>
        </p:nvPicPr>
        <p:blipFill>
          <a:blip r:embed="rId3"/>
          <a:stretch/>
        </p:blipFill>
        <p:spPr bwMode="auto">
          <a:prstGeom prst="rect">
            <a:avLst/>
          </a:prstGeom>
        </p:spPr>
      </p:pic>
      <p:pic>
        <p:nvPicPr>
          <p:cNvPr id="19" name="Рисунок 18"/>
          <p:cNvPicPr>
            <a:picLocks noChangeAspect="1" noGrp="1"/>
          </p:cNvPicPr>
          <p:nvPr>
            <p:ph type="pic" sz="quarter" idx="15"/>
          </p:nvPr>
        </p:nvPicPr>
        <p:blipFill>
          <a:blip r:embed="rId4"/>
          <a:stretch/>
        </p:blipFill>
        <p:spPr bwMode="auto">
          <a:prstGeom prst="rect">
            <a:avLst/>
          </a:prstGeom>
        </p:spPr>
      </p:pic>
      <p:pic>
        <p:nvPicPr>
          <p:cNvPr id="21" name="Рисунок 20"/>
          <p:cNvPicPr>
            <a:picLocks noChangeAspect="1" noGrp="1"/>
          </p:cNvPicPr>
          <p:nvPr>
            <p:ph type="pic" sz="quarter" idx="16"/>
          </p:nvPr>
        </p:nvPicPr>
        <p:blipFill>
          <a:blip r:embed="rId5"/>
          <a:stretch/>
        </p:blipFill>
        <p:spPr bwMode="auto">
          <a:prstGeom prst="rect">
            <a:avLst/>
          </a:prstGeom>
        </p:spPr>
      </p:pic>
      <p:pic>
        <p:nvPicPr>
          <p:cNvPr id="23" name="Рисунок 22"/>
          <p:cNvPicPr>
            <a:picLocks noChangeAspect="1" noGrp="1"/>
          </p:cNvPicPr>
          <p:nvPr>
            <p:ph type="pic" sz="quarter" idx="17"/>
          </p:nvPr>
        </p:nvPicPr>
        <p:blipFill>
          <a:blip r:embed="rId6"/>
          <a:stretch/>
        </p:blipFill>
        <p:spPr bwMode="auto">
          <a:prstGeom prst="rect">
            <a:avLst/>
          </a:prstGeom>
        </p:spPr>
      </p:pic>
      <p:pic>
        <p:nvPicPr>
          <p:cNvPr id="25" name="Рисунок 24"/>
          <p:cNvPicPr>
            <a:picLocks noChangeAspect="1" noGrp="1"/>
          </p:cNvPicPr>
          <p:nvPr>
            <p:ph type="pic" sz="quarter" idx="18"/>
          </p:nvPr>
        </p:nvPicPr>
        <p:blipFill>
          <a:blip r:embed="rId7"/>
          <a:stretch/>
        </p:blipFill>
        <p:spPr bwMode="auto">
          <a:prstGeom prst="rect">
            <a:avLst/>
          </a:prstGeom>
        </p:spPr>
      </p:pic>
      <p:sp>
        <p:nvSpPr>
          <p:cNvPr id="13" name="Текст 12"/>
          <p:cNvSpPr>
            <a:spLocks noGrp="1"/>
          </p:cNvSpPr>
          <p:nvPr>
            <p:ph type="body" sz="quarter" idx="19"/>
          </p:nvPr>
        </p:nvSpPr>
        <p:spPr bwMode="auto">
          <a:xfrm flipH="0" flipV="0">
            <a:off x="354014" y="1122362"/>
            <a:ext cx="11341100" cy="9921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ctr"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Научная психология — это система знаний о закономерностях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возникновения, развития и функционирования психики и сознания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человека, полученных в ходе объективных исследований.</a:t>
            </a:r>
            <a:endParaRPr sz="8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553918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Методы научной психологии</a:t>
            </a:r>
            <a:endParaRPr sz="15000" b="1">
              <a:solidFill>
                <a:schemeClr val="tx1"/>
              </a:solidFill>
            </a:endParaRPr>
          </a:p>
        </p:txBody>
      </p:sp>
      <p:sp>
        <p:nvSpPr>
          <p:cNvPr id="1767486682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200" y="1607789"/>
            <a:ext cx="10444163" cy="447551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Наблюдение: Целенаправленная фиксация поведения в естественных или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лабораторных условиях.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Эксперимент: Активное воздействие на ситуацию для проверки гипотезы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 причинно-следственных связях.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Психодиагностика (тесты): Стандартизированные задания для измерения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индивидуальных особенностей (интеллект, личностные черты).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Опросы и анкетирование: Сбор информации путем опроса больших г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рупп людей.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Анализ продуктов деятельности: Изучение результатов творчества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(рисунки, дневники) для понимания внутреннего мира человека.</a:t>
            </a:r>
            <a:endParaRPr sz="8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758915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5887425" y="365125"/>
            <a:ext cx="611504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Преимущества научной психологии</a:t>
            </a:r>
            <a:endParaRPr sz="14000" b="1">
              <a:solidFill>
                <a:schemeClr val="tx1"/>
              </a:solidFill>
            </a:endParaRPr>
          </a:p>
        </p:txBody>
      </p:sp>
      <p:pic>
        <p:nvPicPr>
          <p:cNvPr id="1719065269" name=""/>
          <p:cNvPicPr>
            <a:picLocks noChangeAspect="1"/>
          </p:cNvPicPr>
          <p:nvPr>
            <p:ph type="pic" sz="quarter" idx="13"/>
          </p:nvPr>
        </p:nvPicPr>
        <p:blipFill>
          <a:blip r:embed="rId2"/>
          <a:stretch/>
        </p:blipFill>
        <p:spPr bwMode="auto">
          <a:xfrm rot="0" flipH="0" flipV="0">
            <a:off x="-74399" y="703153"/>
            <a:ext cx="5533200" cy="5721148"/>
          </a:xfrm>
          <a:prstGeom prst="rect">
            <a:avLst/>
          </a:prstGeom>
        </p:spPr>
      </p:pic>
      <p:sp>
        <p:nvSpPr>
          <p:cNvPr id="1979465623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5773125" y="1769715"/>
            <a:ext cx="5753099" cy="431358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Объективность: Выводы основаны на фактах и измерениях, а не на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личных впечатлениях.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Обобщенность: Наука выявляет универсальные законы, работающие у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большинства людей.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Доказательность: Любое утверждение проходит проверку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экспериментами.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Прогностичность: Научные знания позволяют предсказывать поведение и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состояния в будущем.</a:t>
            </a:r>
            <a:endParaRPr sz="8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513113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Отличия научной и житейской психологии</a:t>
            </a:r>
            <a:endParaRPr sz="15000" b="1">
              <a:solidFill>
                <a:schemeClr val="tx1"/>
              </a:solidFill>
            </a:endParaRPr>
          </a:p>
        </p:txBody>
      </p:sp>
      <p:sp>
        <p:nvSpPr>
          <p:cNvPr id="924337293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199" y="1550639"/>
            <a:ext cx="10992825" cy="48006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55000" lnSpcReduction="9000"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По характеру знаний: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Житейская психология дает конкретные знания,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привязанные к ситуации (знаю, как поступить именно здесь). Научная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психология стремится к обобщениям и абстракциям (выявляет общие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законы мышления, памяти).</a:t>
            </a:r>
            <a:endParaRPr sz="13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По способу получения: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Житейские знания приобретаются путем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случайных наблюдений и метода проб и ошибок. Научные знания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добываются через целенаправленно организованные эксперименты и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строгие методы исследования.</a:t>
            </a:r>
            <a:endParaRPr sz="13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По носителю: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Житейский опыт принадлежит конкретному человеку и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может исчезнуть с его уходом. Научное знание принадлежит сообществу и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хранится в книгах, теориях и статьях, передаваясь между поколениями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ученых.</a:t>
            </a:r>
            <a:endParaRPr sz="13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По языку описания: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В жизни мы говорим размытыми понятиями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(«обидно», «скучно», «на душе тяжело»). Наука использует строгие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термины (аффект, фрустрация, депривация), чтобы избежать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двусмысленности.</a:t>
            </a:r>
            <a:endParaRPr sz="13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По главной цели: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Житейская психология помогает человеку а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даптироваться к социуму и решать сиюминутные задачи. Научная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психология нацелена на познание объективных законов устройства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психики.</a:t>
            </a:r>
            <a:endParaRPr sz="13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582429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5"/>
            <a:ext cx="10515600" cy="83308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Взаимодействие научной и житейской психологии</a:t>
            </a:r>
            <a:endParaRPr sz="14000" b="1">
              <a:solidFill>
                <a:schemeClr val="tx1"/>
              </a:solidFill>
            </a:endParaRPr>
          </a:p>
        </p:txBody>
      </p:sp>
      <p:sp>
        <p:nvSpPr>
          <p:cNvPr id="1271416655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200" y="1426814"/>
            <a:ext cx="10515600" cy="475014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Опора науки на жизненный опыт. Любая научная проблема вырастает из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жизни. Ученые замечают какое-то явление в повседневности (например,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трудности запоминания материала студентами) и идут в лабораторию,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чтобы изучить его законы. Житейская психология поставляет науке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«сырой материал» и вопросы для исследования.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Проникновение науки в жизнь. Научные открытия со временем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становятся достоянием общества. Они превращаются в популярные книги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по воспитанию, тренинги личного роста, методики улучшения памяти или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консультации психотерапевтов. Таким образом, научная психология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«очеловечивается» и помогает людям в их повседневной жизни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корректируя и углубляя житейский опыт.</a:t>
            </a:r>
            <a:endParaRPr sz="9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9"/>
          <p:cNvSpPr txBox="1"/>
          <p:nvPr/>
        </p:nvSpPr>
        <p:spPr bwMode="auto">
          <a:xfrm flipH="0" flipV="0">
            <a:off x="231700" y="1655558"/>
            <a:ext cx="4932270" cy="3935616"/>
          </a:xfrm>
          <a:prstGeom prst="rect">
            <a:avLst/>
          </a:prstGeom>
        </p:spPr>
        <p:txBody>
          <a:bodyPr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7200" b="1">
                <a:solidFill>
                  <a:schemeClr val="accent2"/>
                </a:solidFill>
              </a:rPr>
              <a:t>СПАСИБО ЗА ВНИМАНИЕ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3971" y="2774373"/>
            <a:ext cx="7021279" cy="3414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Психологи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B4C8C"/>
      </a:accent1>
      <a:accent2>
        <a:srgbClr val="6DA7F2"/>
      </a:accent2>
      <a:accent3>
        <a:srgbClr val="82B479"/>
      </a:accent3>
      <a:accent4>
        <a:srgbClr val="B2D9A7"/>
      </a:accent4>
      <a:accent5>
        <a:srgbClr val="D96725"/>
      </a:accent5>
      <a:accent6>
        <a:srgbClr val="F29D52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Широкоэкранный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Юрий Козырев</dc:creator>
  <cp:keywords/>
  <dc:description/>
  <dc:identifier/>
  <dc:language/>
  <cp:lastModifiedBy>Матвей Егоров</cp:lastModifiedBy>
  <cp:revision>11</cp:revision>
  <dcterms:created xsi:type="dcterms:W3CDTF">2020-06-21T11:59:54Z</dcterms:created>
  <dcterms:modified xsi:type="dcterms:W3CDTF">2026-03-17T09:41:53Z</dcterms:modified>
  <cp:category/>
  <cp:contentStatus/>
  <cp:version/>
</cp:coreProperties>
</file>
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3" r:id="rId6"/>
    <p:sldId id="27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howGuides="1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DF145-3EC7-45A6-98DB-F2C7EFF8C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17AF95-71C1-4499-B23E-07B1784D0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1BE73C-EA6D-4225-8BDF-BB71555E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E212F6-9108-4608-971C-D6D70D68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850029-9F9D-4176-B037-A9ECB3FB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66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21462-A9E1-4536-9F2D-B2F8F218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1B458C-BFE5-4FED-890B-A3C81CBD9E00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4EC097-BE1E-47C5-A4A4-558BFD9F9C06}"/>
              </a:ext>
            </a:extLst>
          </p:cNvPr>
          <p:cNvSpPr/>
          <p:nvPr userDrawn="1"/>
        </p:nvSpPr>
        <p:spPr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CD6CA42-8F84-4EF7-AC44-C6D7CA7B5256}"/>
              </a:ext>
            </a:extLst>
          </p:cNvPr>
          <p:cNvGrpSpPr/>
          <p:nvPr userDrawn="1"/>
        </p:nvGrpSpPr>
        <p:grpSpPr>
          <a:xfrm>
            <a:off x="0" y="49500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F73193D-4957-4A8F-A457-261D1530DEC3}"/>
                </a:ext>
              </a:extLst>
            </p:cNvPr>
            <p:cNvSpPr/>
            <p:nvPr userDrawn="1"/>
          </p:nvSpPr>
          <p:spPr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Блок-схема: объединение 10">
              <a:extLst>
                <a:ext uri="{FF2B5EF4-FFF2-40B4-BE49-F238E27FC236}">
                  <a16:creationId xmlns:a16="http://schemas.microsoft.com/office/drawing/2014/main" id="{9CA2CB59-7E2E-4FE6-B4DA-BC82267C4973}"/>
                </a:ext>
              </a:extLst>
            </p:cNvPr>
            <p:cNvSpPr/>
            <p:nvPr userDrawn="1"/>
          </p:nvSpPr>
          <p:spPr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F77822EB-8A6C-4A70-8594-303E6651250C}"/>
              </a:ext>
            </a:extLst>
          </p:cNvPr>
          <p:cNvGrpSpPr/>
          <p:nvPr userDrawn="1"/>
        </p:nvGrpSpPr>
        <p:grpSpPr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1DA2A97F-749F-48D2-AE48-5762F540EF28}"/>
                </a:ext>
              </a:extLst>
            </p:cNvPr>
            <p:cNvSpPr/>
            <p:nvPr userDrawn="1"/>
          </p:nvSpPr>
          <p:spPr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Блок-схема: объединение 13">
              <a:extLst>
                <a:ext uri="{FF2B5EF4-FFF2-40B4-BE49-F238E27FC236}">
                  <a16:creationId xmlns:a16="http://schemas.microsoft.com/office/drawing/2014/main" id="{3E93E1D6-3B3B-47F6-966E-B20E50008B90}"/>
                </a:ext>
              </a:extLst>
            </p:cNvPr>
            <p:cNvSpPr/>
            <p:nvPr userDrawn="1"/>
          </p:nvSpPr>
          <p:spPr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" name="Текст 18">
            <a:extLst>
              <a:ext uri="{FF2B5EF4-FFF2-40B4-BE49-F238E27FC236}">
                <a16:creationId xmlns:a16="http://schemas.microsoft.com/office/drawing/2014/main" id="{57C0137E-3F0D-4D70-B2CA-0E5AD27AD1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033588"/>
            <a:ext cx="10444163" cy="404971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2518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21462-A9E1-4536-9F2D-B2F8F218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8" y="365125"/>
            <a:ext cx="5257801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8D8509-D379-49B3-A4FE-EDBEE0641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0FB3E60-2F82-4C12-95B3-7ACC1B0E5862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1B458C-BFE5-4FED-890B-A3C81CBD9E00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4EC097-BE1E-47C5-A4A4-558BFD9F9C06}"/>
              </a:ext>
            </a:extLst>
          </p:cNvPr>
          <p:cNvSpPr/>
          <p:nvPr userDrawn="1"/>
        </p:nvSpPr>
        <p:spPr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17DD4B55-CA6E-4B68-97C9-646C6EC1FB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850" y="-575"/>
            <a:ext cx="5186362" cy="6858575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CD6CA42-8F84-4EF7-AC44-C6D7CA7B5256}"/>
              </a:ext>
            </a:extLst>
          </p:cNvPr>
          <p:cNvGrpSpPr/>
          <p:nvPr userDrawn="1"/>
        </p:nvGrpSpPr>
        <p:grpSpPr>
          <a:xfrm>
            <a:off x="5207212" y="36075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F73193D-4957-4A8F-A457-261D1530DEC3}"/>
                </a:ext>
              </a:extLst>
            </p:cNvPr>
            <p:cNvSpPr/>
            <p:nvPr userDrawn="1"/>
          </p:nvSpPr>
          <p:spPr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1" name="Блок-схема: объединение 10">
              <a:extLst>
                <a:ext uri="{FF2B5EF4-FFF2-40B4-BE49-F238E27FC236}">
                  <a16:creationId xmlns:a16="http://schemas.microsoft.com/office/drawing/2014/main" id="{9CA2CB59-7E2E-4FE6-B4DA-BC82267C4973}"/>
                </a:ext>
              </a:extLst>
            </p:cNvPr>
            <p:cNvSpPr/>
            <p:nvPr userDrawn="1"/>
          </p:nvSpPr>
          <p:spPr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F77822EB-8A6C-4A70-8594-303E6651250C}"/>
              </a:ext>
            </a:extLst>
          </p:cNvPr>
          <p:cNvGrpSpPr/>
          <p:nvPr userDrawn="1"/>
        </p:nvGrpSpPr>
        <p:grpSpPr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1DA2A97F-749F-48D2-AE48-5762F540EF28}"/>
                </a:ext>
              </a:extLst>
            </p:cNvPr>
            <p:cNvSpPr/>
            <p:nvPr userDrawn="1"/>
          </p:nvSpPr>
          <p:spPr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>
              <a:extLst>
                <a:ext uri="{FF2B5EF4-FFF2-40B4-BE49-F238E27FC236}">
                  <a16:creationId xmlns:a16="http://schemas.microsoft.com/office/drawing/2014/main" id="{3E93E1D6-3B3B-47F6-966E-B20E50008B90}"/>
                </a:ext>
              </a:extLst>
            </p:cNvPr>
            <p:cNvSpPr/>
            <p:nvPr userDrawn="1"/>
          </p:nvSpPr>
          <p:spPr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6" name="Текст 18">
            <a:extLst>
              <a:ext uri="{FF2B5EF4-FFF2-40B4-BE49-F238E27FC236}">
                <a16:creationId xmlns:a16="http://schemas.microsoft.com/office/drawing/2014/main" id="{57C0137E-3F0D-4D70-B2CA-0E5AD27AD1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33588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3216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5E16D1-998B-48A7-9C66-2F192101B82F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8120B5-0C92-46E1-BAA0-BA8A5399D9C2}"/>
              </a:ext>
            </a:extLst>
          </p:cNvPr>
          <p:cNvSpPr/>
          <p:nvPr userDrawn="1"/>
        </p:nvSpPr>
        <p:spPr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BF0CE19-D07F-45F4-8B53-F4AE3EAC0AF5}"/>
              </a:ext>
            </a:extLst>
          </p:cNvPr>
          <p:cNvGrpSpPr/>
          <p:nvPr userDrawn="1"/>
        </p:nvGrpSpPr>
        <p:grpSpPr>
          <a:xfrm>
            <a:off x="4161000" y="15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6D0ED7C-6F6D-4A0C-B5BF-D4C886121974}"/>
                </a:ext>
              </a:extLst>
            </p:cNvPr>
            <p:cNvSpPr/>
            <p:nvPr userDrawn="1"/>
          </p:nvSpPr>
          <p:spPr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9" name="Блок-схема: объединение 8">
              <a:extLst>
                <a:ext uri="{FF2B5EF4-FFF2-40B4-BE49-F238E27FC236}">
                  <a16:creationId xmlns:a16="http://schemas.microsoft.com/office/drawing/2014/main" id="{F6313D72-2173-410E-9DAC-5F683BF77D8C}"/>
                </a:ext>
              </a:extLst>
            </p:cNvPr>
            <p:cNvSpPr/>
            <p:nvPr userDrawn="1"/>
          </p:nvSpPr>
          <p:spPr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9D0FFF0F-DED0-4533-AA04-278237E63B65}"/>
              </a:ext>
            </a:extLst>
          </p:cNvPr>
          <p:cNvGrpSpPr/>
          <p:nvPr userDrawn="1"/>
        </p:nvGrpSpPr>
        <p:grpSpPr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1E034F0-B288-495E-B8C4-5A4D6270B72C}"/>
                </a:ext>
              </a:extLst>
            </p:cNvPr>
            <p:cNvSpPr/>
            <p:nvPr userDrawn="1"/>
          </p:nvSpPr>
          <p:spPr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2" name="Блок-схема: объединение 11">
              <a:extLst>
                <a:ext uri="{FF2B5EF4-FFF2-40B4-BE49-F238E27FC236}">
                  <a16:creationId xmlns:a16="http://schemas.microsoft.com/office/drawing/2014/main" id="{7F3095C1-9AE8-47F3-8F8B-8B149C02C892}"/>
                </a:ext>
              </a:extLst>
            </p:cNvPr>
            <p:cNvSpPr/>
            <p:nvPr userDrawn="1"/>
          </p:nvSpPr>
          <p:spPr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9563E350-4964-48DA-95EE-507A76F601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5638" y="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E44DF226-C979-4C53-9AB3-F30F19A6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87" y="485501"/>
            <a:ext cx="5257800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Текст 18">
            <a:extLst>
              <a:ext uri="{FF2B5EF4-FFF2-40B4-BE49-F238E27FC236}">
                <a16:creationId xmlns:a16="http://schemas.microsoft.com/office/drawing/2014/main" id="{C0D997C5-63D2-40A5-8978-8A0E7A482F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987" y="2153964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0DC8507B-223A-4D10-9873-5F8CBA1FA6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84638" y="351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46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31BDB-50F3-43CA-877E-F9C7672D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74453DF6-9509-45CB-BD4E-84F90C1C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AF27442-62D0-4CA6-81B4-B7FDDA51A9A2}"/>
              </a:ext>
            </a:extLst>
          </p:cNvPr>
          <p:cNvSpPr/>
          <p:nvPr userDrawn="1"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FD6AC4-0F96-4D40-B8AD-EF85E9EDE11D}"/>
              </a:ext>
            </a:extLst>
          </p:cNvPr>
          <p:cNvSpPr/>
          <p:nvPr userDrawn="1"/>
        </p:nvSpPr>
        <p:spPr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3640FF5-D492-4210-9DE4-D7B66426125F}"/>
              </a:ext>
            </a:extLst>
          </p:cNvPr>
          <p:cNvGrpSpPr/>
          <p:nvPr userDrawn="1"/>
        </p:nvGrpSpPr>
        <p:grpSpPr>
          <a:xfrm>
            <a:off x="9347250" y="3798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62B47E0-EF90-4ECC-A73E-6E5DA1F62FCD}"/>
                </a:ext>
              </a:extLst>
            </p:cNvPr>
            <p:cNvSpPr/>
            <p:nvPr userDrawn="1"/>
          </p:nvSpPr>
          <p:spPr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>
              <a:extLst>
                <a:ext uri="{FF2B5EF4-FFF2-40B4-BE49-F238E27FC236}">
                  <a16:creationId xmlns:a16="http://schemas.microsoft.com/office/drawing/2014/main" id="{2FC4DE4B-558A-425B-A23E-B63E93533558}"/>
                </a:ext>
              </a:extLst>
            </p:cNvPr>
            <p:cNvSpPr/>
            <p:nvPr userDrawn="1"/>
          </p:nvSpPr>
          <p:spPr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1C3AA05-E7C7-4C27-A908-2E47AFEBA600}"/>
              </a:ext>
            </a:extLst>
          </p:cNvPr>
          <p:cNvGrpSpPr/>
          <p:nvPr userDrawn="1"/>
        </p:nvGrpSpPr>
        <p:grpSpPr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94BF255-53E4-439B-83D0-7DE93A9900DD}"/>
                </a:ext>
              </a:extLst>
            </p:cNvPr>
            <p:cNvSpPr/>
            <p:nvPr userDrawn="1"/>
          </p:nvSpPr>
          <p:spPr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7" name="Блок-схема: объединение 16">
              <a:extLst>
                <a:ext uri="{FF2B5EF4-FFF2-40B4-BE49-F238E27FC236}">
                  <a16:creationId xmlns:a16="http://schemas.microsoft.com/office/drawing/2014/main" id="{E38044D4-D5F4-4E1E-8B74-E24D6E7B2929}"/>
                </a:ext>
              </a:extLst>
            </p:cNvPr>
            <p:cNvSpPr/>
            <p:nvPr userDrawn="1"/>
          </p:nvSpPr>
          <p:spPr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402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1">
            <a:extLst>
              <a:ext uri="{FF2B5EF4-FFF2-40B4-BE49-F238E27FC236}">
                <a16:creationId xmlns:a16="http://schemas.microsoft.com/office/drawing/2014/main" id="{AC7B45C4-0029-484F-BC10-E13FF562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234000"/>
            <a:ext cx="11341100" cy="10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F8FF044D-1DB9-4B7C-9D24-F0D3A3DD3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450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738784A2-81B9-4C54-8F48-52CB72EF97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95341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21C4B4FC-EB7C-4B83-9B03-36AC76ADC6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61675" y="23034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FC421DAD-9956-40BC-B396-121BDF52207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450" y="40581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0596AFFC-6327-4316-8A52-555C5499A3E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6109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709A8CBC-B10E-4729-8664-C17D4F6947A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76000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05550F69-FB7F-4160-902B-8FE3C5C275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9739" y="1493838"/>
            <a:ext cx="11341100" cy="62706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3407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92008-DBD3-46BA-A4EB-58BFA372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A263C2-0CA0-4726-8ADC-C6857613C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9719FD-E040-478A-937E-C5F8CB57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5CE2BE-1276-4A04-9F8D-C0527D0F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ED891-380B-406A-A48E-D9981BE9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16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F919F-432B-4AAF-8366-DBD8B0A3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EE1D5D-3A6C-44DE-9213-A8F9E2F65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7C9EB4-F846-4602-95A8-B0BEE14A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928667-83F3-4E42-9D55-FA20CA34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F0AF01-74DE-44DE-9A8F-1BCE6A9B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41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B5CEA-7B09-498B-8E61-BAF2B438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E4A14F-68DF-4743-A047-6B0913610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BD6A83-0AEB-455B-B55A-FD3DBF861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A35E39-2F5B-42E0-9F90-6CD1453F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B8125E-8FB7-46F3-AC6F-CE8760D0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C29A5D-7DB3-4579-91B8-7C6BBC33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6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C117D-03E5-4898-897C-31A4ECA0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DC9F88-A158-4658-AFFC-E2E365B59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6F0965-D614-4DD0-BF04-3373E6DDD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DCF245-4B9D-469E-89B0-0FC6865F4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A83759-3CBB-4669-A645-20DA423B1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8D6578-AB4E-4BE7-B782-06097628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3260A9E-FBCA-49FF-B7EC-F2BB03FB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5D9A67-56DA-4FA6-A270-6F992686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00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C30C5-2530-4641-868D-38BB1367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63D42C-8588-4E3A-9FCF-22A4FE86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3FE8F1-5155-4638-922B-EEC6D8C6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3C91DF-AF8A-4B6B-8C41-C3810B77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801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89810C-4CE3-4421-BE5F-739DC68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AA0D72-7175-4B27-A46C-37D0297C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CF0C6B-2D65-41E3-BA05-25D2C6F3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309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944D6-DDB2-4018-B126-FC0F899D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B1234E-2933-42C3-AC43-2E3F57745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EF90F2-7940-4C9B-816C-A0E6F4F3D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43987E-1DFD-40D6-8748-DC2AE1D1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89573C-CD38-4ED6-9A0C-EBCCECD4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10EBFF-743C-4106-99AB-1F62ECF6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462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F0872-3855-4DC2-A1E8-6E26E19E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A06CD3-1CFF-452C-9F89-7041FDD40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36A75-AF44-4E3D-927A-2D55DC3A3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527F93-44C5-488C-8AD3-AC0EAAE79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3ED294-37D0-4106-B426-5931649B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C783C9-2EDC-4FCC-9BB8-CA68C54F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84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13664-7467-4A8B-BE24-A856234D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E49FE4-537C-45E2-B665-1F23C0B6D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0C032-8B29-431A-9431-52DF2E01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FE6883-F6ED-4455-97B7-0524237F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64DD1E-F3EC-4EED-9C25-D8E5FBC4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53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80DBFF-8C1D-4708-B5C5-91EEC8F65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8C8DE9-BF79-4004-84C0-B59CECEA5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929F-CB95-4E24-9E5D-84659149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2A74B6-C1FF-4904-A387-44536163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7F510F-7642-43B8-81D1-48C258B3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22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23AAE-BFC3-4CCA-AE74-B41E221D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EDEEE5-CAEC-4DC9-841D-3496A6CA3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1D8F9E-5681-4397-8620-6A534D50A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2E417-5F45-4CBD-AEF8-95048E7B5C9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8EBA8A-57C7-4851-9A59-C2739AE8B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E8C9F0-2955-4F31-909E-A7D69B4CB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92C9E-3229-4D78-8EDB-28C548B1E2D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8"/>
            <a:extLst>
              <a:ext uri="{FF2B5EF4-FFF2-40B4-BE49-F238E27FC236}">
                <a16:creationId xmlns:a16="http://schemas.microsoft.com/office/drawing/2014/main" id="{5BF8621D-8206-4C22-9818-F327ED8B7AD2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5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384AD-409C-4275-9895-9E0939DBD2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000" y="2304000"/>
            <a:ext cx="9989999" cy="341472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CA05078-3877-415F-AD9E-AB61FED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000" y="15080"/>
            <a:ext cx="7020000" cy="1399264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Методы психологии 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CF2E59D-942F-40D4-B10C-15B5F0EB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000" y="1809000"/>
            <a:ext cx="6344150" cy="1399264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1"/>
              </a:solidFill>
            </a:endParaRPr>
          </a:p>
          <a:p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900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5D56E9C-1F8B-4437-A4A4-E2B9BC4F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Основные отрасли психологии.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C4560F-6F86-43D5-B90C-407331963A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000" y="2033588"/>
            <a:ext cx="11925000" cy="4049712"/>
          </a:xfrm>
        </p:spPr>
        <p:txBody>
          <a:bodyPr>
            <a:normAutofit/>
          </a:bodyPr>
          <a:lstStyle/>
          <a:p>
            <a:r>
              <a:rPr lang="ru-RU" u="sng" dirty="0"/>
              <a:t>Общая психология</a:t>
            </a:r>
            <a:r>
              <a:rPr lang="ru-RU" dirty="0"/>
              <a:t> изучает индивида, выделяя в нем познавательные процессы и личность. Познавательные процессы охватывают ощущения, восприятия, внимание, память, воображение, мышление и речь.</a:t>
            </a:r>
          </a:p>
          <a:p>
            <a:r>
              <a:rPr lang="ru-RU" dirty="0"/>
              <a:t>Специальные отрасли психологии, тесно связанные с теорией и практикой обучения детей включает: генетическую психологию, психофизиологию, дифференциальную психологию, возрастную психологию, социальную психологию, педагогическую психологию, а также медицинскую, патопсихологию, юридическую психология, психодиагностику и психотерапию.</a:t>
            </a:r>
          </a:p>
        </p:txBody>
      </p:sp>
    </p:spTree>
    <p:extLst>
      <p:ext uri="{BB962C8B-B14F-4D97-AF65-F5344CB8AC3E}">
        <p14:creationId xmlns:p14="http://schemas.microsoft.com/office/powerpoint/2010/main" val="228133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16A5D05-3A7A-4D43-B7E2-27134D82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8" y="365125"/>
            <a:ext cx="5257801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1391FE5-288D-4397-9495-7CEDD6B0E5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1000" y="639000"/>
            <a:ext cx="5951363" cy="54443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sz="3300" dirty="0"/>
              <a:t> </a:t>
            </a:r>
            <a:r>
              <a:rPr lang="ru-RU" sz="3300" u="sng" dirty="0"/>
              <a:t>Социальная психология</a:t>
            </a:r>
            <a:r>
              <a:rPr lang="ru-RU" sz="3300" dirty="0"/>
              <a:t> включает: человеческие взаимоотношения, явления, возникающие в процессе общения и взаимодействия людей друг с другом.</a:t>
            </a:r>
          </a:p>
          <a:p>
            <a:r>
              <a:rPr lang="ru-RU" sz="3300" dirty="0"/>
              <a:t> </a:t>
            </a:r>
            <a:r>
              <a:rPr lang="ru-RU" sz="3300" u="sng" dirty="0"/>
              <a:t>Педагогическая психология</a:t>
            </a:r>
            <a:r>
              <a:rPr lang="ru-RU" sz="3300" dirty="0"/>
              <a:t> объединяет всю информацию связанную с обучением и воспитание. </a:t>
            </a:r>
          </a:p>
          <a:p>
            <a:r>
              <a:rPr lang="ru-RU" sz="3300" dirty="0"/>
              <a:t> </a:t>
            </a:r>
            <a:r>
              <a:rPr lang="ru-RU" sz="3300" u="sng" dirty="0"/>
              <a:t>Патопсихология, психотерапия, медицинская психология</a:t>
            </a:r>
            <a:r>
              <a:rPr lang="ru-RU" sz="3300" dirty="0"/>
              <a:t> имеет дело с отклонением от нормальной психики и поведения человека. Задача этих отраслей обосновать причины возможных психических нарушений и обосновать методы их предупреждения и лечения. </a:t>
            </a:r>
          </a:p>
          <a:p>
            <a:r>
              <a:rPr lang="ru-RU" sz="3300" u="sng" dirty="0"/>
              <a:t>Юридическая психология</a:t>
            </a:r>
            <a:r>
              <a:rPr lang="ru-RU" sz="3300" dirty="0"/>
              <a:t> рассматривает усвоение человеком правовых норм, а также нужна для воспитания.</a:t>
            </a:r>
          </a:p>
          <a:p>
            <a:r>
              <a:rPr lang="ru-RU" sz="3300" dirty="0"/>
              <a:t> </a:t>
            </a:r>
            <a:r>
              <a:rPr lang="ru-RU" sz="3300" u="sng" dirty="0"/>
              <a:t>Психодиагностика</a:t>
            </a:r>
            <a:r>
              <a:rPr lang="ru-RU" sz="3300" dirty="0"/>
              <a:t> ставит, решает вопросы психологической оценки уровня развития детей.</a:t>
            </a:r>
          </a:p>
          <a:p>
            <a:r>
              <a:rPr lang="ru-RU" sz="3300" dirty="0"/>
              <a:t> </a:t>
            </a:r>
            <a:r>
              <a:rPr lang="ru-RU" sz="3300" u="sng" dirty="0"/>
              <a:t>Генетическая психология</a:t>
            </a:r>
            <a:r>
              <a:rPr lang="ru-RU" sz="3300" dirty="0"/>
              <a:t> изучает психику в процессе ее развития и включает в себя возрастную и сравнительную психология.</a:t>
            </a:r>
          </a:p>
          <a:p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D7D875-563D-CA55-D2E1-108A2718F7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1641" r="2164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4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B6DADDF4-E88A-4747-82C6-A201832C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2. Методы исследования психологии.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B00AB64-E837-40FD-BC48-5472AB5EB5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Методы научного исследования – это те приемы и средства, с помощью которых ученые получают достоверные сведения, используемые далее для построения научных теорий и выработки практических рекомендаций. Сила науки во многом зависит от совершенства методов исследования, от их надежности и т. д. 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36760B-E137-0054-DA11-6AAA6A851B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0889" r="10889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36C724-61E7-3708-5A35-D44B42BD505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9335" b="933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6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6C288-07A7-2F42-8E82-1EC94050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0"/>
            <a:ext cx="10515600" cy="9900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3441D0-DABF-DDB5-EC9D-E846F4EDA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000" y="468000"/>
            <a:ext cx="5773800" cy="593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accent1"/>
                </a:solidFill>
              </a:rPr>
              <a:t> </a:t>
            </a:r>
            <a:r>
              <a:rPr lang="ru-RU" sz="3800" u="sng" dirty="0">
                <a:solidFill>
                  <a:schemeClr val="accent1"/>
                </a:solidFill>
              </a:rPr>
              <a:t>Наблюдение</a:t>
            </a:r>
            <a:r>
              <a:rPr lang="ru-RU" sz="3800" dirty="0">
                <a:solidFill>
                  <a:schemeClr val="accent1"/>
                </a:solidFill>
              </a:rPr>
              <a:t>:</a:t>
            </a:r>
          </a:p>
          <a:p>
            <a:r>
              <a:rPr lang="ru-RU" sz="3200" dirty="0">
                <a:solidFill>
                  <a:schemeClr val="accent1"/>
                </a:solidFill>
              </a:rPr>
              <a:t>- </a:t>
            </a:r>
            <a:r>
              <a:rPr lang="ru-RU" sz="3200" i="1" dirty="0">
                <a:solidFill>
                  <a:schemeClr val="accent1"/>
                </a:solidFill>
              </a:rPr>
              <a:t>свободное</a:t>
            </a:r>
            <a:r>
              <a:rPr lang="ru-RU" sz="3200" dirty="0">
                <a:solidFill>
                  <a:schemeClr val="accent1"/>
                </a:solidFill>
              </a:rPr>
              <a:t> - не имеет заранее установленных рамок (может меняться предмет наблюдения, а также может меняться характер самого наблюдения в зависимости от пожелания наблюдателя.) </a:t>
            </a:r>
          </a:p>
          <a:p>
            <a:r>
              <a:rPr lang="ru-RU" sz="3200" dirty="0">
                <a:solidFill>
                  <a:schemeClr val="accent1"/>
                </a:solidFill>
              </a:rPr>
              <a:t>- </a:t>
            </a:r>
            <a:r>
              <a:rPr lang="ru-RU" sz="3200" i="1" dirty="0">
                <a:solidFill>
                  <a:schemeClr val="accent1"/>
                </a:solidFill>
              </a:rPr>
              <a:t>стандартизированное</a:t>
            </a:r>
            <a:r>
              <a:rPr lang="ru-RU" sz="3200" dirty="0">
                <a:solidFill>
                  <a:schemeClr val="accent1"/>
                </a:solidFill>
              </a:rPr>
              <a:t> - заранее определено и ограничено в плане то, что наблюдается (следует продуманной программе ).</a:t>
            </a:r>
          </a:p>
          <a:p>
            <a:r>
              <a:rPr lang="ru-RU" sz="3200" dirty="0">
                <a:solidFill>
                  <a:schemeClr val="accent1"/>
                </a:solidFill>
              </a:rPr>
              <a:t>- </a:t>
            </a:r>
            <a:r>
              <a:rPr lang="ru-RU" sz="3200" i="1" dirty="0">
                <a:solidFill>
                  <a:schemeClr val="accent1"/>
                </a:solidFill>
              </a:rPr>
              <a:t>включенное</a:t>
            </a:r>
            <a:r>
              <a:rPr lang="ru-RU" sz="3200" dirty="0">
                <a:solidFill>
                  <a:schemeClr val="accent1"/>
                </a:solidFill>
              </a:rPr>
              <a:t> - при нем исследователь выступает в качестве непосредственного участника того процесса, за ходом которого он ведет наблюдение.</a:t>
            </a:r>
          </a:p>
          <a:p>
            <a:r>
              <a:rPr lang="ru-RU" sz="3200" dirty="0">
                <a:solidFill>
                  <a:schemeClr val="accent1"/>
                </a:solidFill>
              </a:rPr>
              <a:t>- </a:t>
            </a:r>
            <a:r>
              <a:rPr lang="ru-RU" sz="3200" i="1" dirty="0">
                <a:solidFill>
                  <a:schemeClr val="accent1"/>
                </a:solidFill>
              </a:rPr>
              <a:t>стороннее </a:t>
            </a:r>
            <a:r>
              <a:rPr lang="ru-RU" sz="3200" dirty="0">
                <a:solidFill>
                  <a:schemeClr val="accent1"/>
                </a:solidFill>
              </a:rPr>
              <a:t>- не предполагает личного участия наблюдателя в процессе, который он изучает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9F4089-08D4-5FC2-A884-5E65249B1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67000"/>
            <a:ext cx="5458800" cy="5832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3800" u="sng" dirty="0">
                <a:solidFill>
                  <a:schemeClr val="accent5"/>
                </a:solidFill>
              </a:rPr>
              <a:t>Опрос: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5"/>
                </a:solidFill>
              </a:rPr>
              <a:t>Представляет собой метод, при использовании которого человек отвечает на ряд задаваемых вопросов</a:t>
            </a:r>
            <a:r>
              <a:rPr lang="ru-RU" dirty="0"/>
              <a:t>.</a:t>
            </a:r>
          </a:p>
          <a:p>
            <a:r>
              <a:rPr lang="ru-RU" i="1" dirty="0">
                <a:solidFill>
                  <a:schemeClr val="accent5"/>
                </a:solidFill>
              </a:rPr>
              <a:t>Устный </a:t>
            </a:r>
            <a:r>
              <a:rPr lang="ru-RU" dirty="0">
                <a:solidFill>
                  <a:schemeClr val="accent5"/>
                </a:solidFill>
              </a:rPr>
              <a:t>– применяется, когда желательно вести наблюдение за поведением и реакциями человека, отвечающего на вопросы. </a:t>
            </a:r>
          </a:p>
          <a:p>
            <a:r>
              <a:rPr lang="ru-RU" i="1" dirty="0">
                <a:solidFill>
                  <a:schemeClr val="accent5"/>
                </a:solidFill>
              </a:rPr>
              <a:t>Письменный</a:t>
            </a:r>
            <a:r>
              <a:rPr lang="ru-RU" dirty="0">
                <a:solidFill>
                  <a:schemeClr val="accent5"/>
                </a:solidFill>
              </a:rPr>
              <a:t> опрос позволяет охватить большее количество людей, наиболее распространенная его форма- анкета, но его недостатками является то, что применяя анкету нельзя заранее учесть реакции отвечающего на содержание ее вопросов и исходя из этого изменить их. </a:t>
            </a:r>
          </a:p>
          <a:p>
            <a:r>
              <a:rPr lang="ru-RU" i="1" dirty="0">
                <a:solidFill>
                  <a:schemeClr val="accent5"/>
                </a:solidFill>
              </a:rPr>
              <a:t>Свободный</a:t>
            </a:r>
            <a:r>
              <a:rPr lang="ru-RU" dirty="0">
                <a:solidFill>
                  <a:schemeClr val="accent5"/>
                </a:solidFill>
              </a:rPr>
              <a:t> опрос- разновидность письменного или устного опроса, при котором перечень задаваемых вопросов и возможных ответов на них заранее не ограничен определенными рамками.</a:t>
            </a:r>
          </a:p>
          <a:p>
            <a:r>
              <a:rPr lang="ru-RU" i="1" dirty="0">
                <a:solidFill>
                  <a:schemeClr val="accent5"/>
                </a:solidFill>
              </a:rPr>
              <a:t>Стандартизированный</a:t>
            </a:r>
            <a:r>
              <a:rPr lang="ru-RU" dirty="0">
                <a:solidFill>
                  <a:schemeClr val="accent5"/>
                </a:solidFill>
              </a:rPr>
              <a:t> опрос. В нем вопросы и характер возможных ответов на них определены заранее и обычно ограничены достаточно узкими рамками. Преимуществом этого опроса является то, что он более экономичен во времени и материале, чем свободный опрос.</a:t>
            </a:r>
          </a:p>
        </p:txBody>
      </p:sp>
    </p:spTree>
    <p:extLst>
      <p:ext uri="{BB962C8B-B14F-4D97-AF65-F5344CB8AC3E}">
        <p14:creationId xmlns:p14="http://schemas.microsoft.com/office/powerpoint/2010/main" val="339056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26325-1281-FBE4-485A-59C8985FE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"/>
            <a:ext cx="105156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1B7272-4243-7E7C-147E-6D85C8EB3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000" y="280438"/>
            <a:ext cx="5773800" cy="6394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>
                <a:solidFill>
                  <a:schemeClr val="accent5"/>
                </a:solidFill>
              </a:rPr>
              <a:t>Тест: 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5"/>
                </a:solidFill>
              </a:rPr>
              <a:t>Тесты являются специализированными методами психодиагностического обследования, применяя которое можно получить точную количественную или качественную характеристику изучаемого явления. От других методов тесты отличаются тем, что предполагают четкую процедуру сбора и обработки первичных данных, а т. ж. своеобразие их последующей интерпретации.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3910B9-2F44-622D-CBF8-4B46D02FC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0438"/>
            <a:ext cx="5181600" cy="5896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>
                <a:solidFill>
                  <a:schemeClr val="accent1"/>
                </a:solidFill>
              </a:rPr>
              <a:t>Эксперимент</a:t>
            </a:r>
            <a:r>
              <a:rPr lang="ru-RU" dirty="0">
                <a:solidFill>
                  <a:schemeClr val="accent1"/>
                </a:solidFill>
              </a:rPr>
              <a:t>. Специфика эксперимента как метода психологических исследований заключается в том, что в нем целенаправленно и продуманно создается искусственная ситуация в которой изучаемое слово выделяется, появляется и оценивается лучше всего. </a:t>
            </a:r>
          </a:p>
          <a:p>
            <a:r>
              <a:rPr lang="ru-RU" dirty="0">
                <a:solidFill>
                  <a:schemeClr val="accent1"/>
                </a:solidFill>
              </a:rPr>
              <a:t>Искусственный</a:t>
            </a:r>
          </a:p>
          <a:p>
            <a:r>
              <a:rPr lang="ru-RU" dirty="0">
                <a:solidFill>
                  <a:schemeClr val="accent1"/>
                </a:solidFill>
              </a:rPr>
              <a:t>Лабораторный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49304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сихологи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B4C8C"/>
      </a:accent1>
      <a:accent2>
        <a:srgbClr val="6DA7F2"/>
      </a:accent2>
      <a:accent3>
        <a:srgbClr val="82B479"/>
      </a:accent3>
      <a:accent4>
        <a:srgbClr val="B2D9A7"/>
      </a:accent4>
      <a:accent5>
        <a:srgbClr val="D96725"/>
      </a:accent5>
      <a:accent6>
        <a:srgbClr val="F29D52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549</Words>
  <Application>Microsoft Office PowerPoint</Application>
  <PresentationFormat>Широкоэкранный</PresentationFormat>
  <Paragraphs>29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Методы психологии </vt:lpstr>
      <vt:lpstr>1. Основные отрасли психологии.</vt:lpstr>
      <vt:lpstr>Презентация PowerPoint</vt:lpstr>
      <vt:lpstr>2. Методы исследования психологии.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Юрий Козырев</dc:creator>
  <cp:lastModifiedBy>arinushkaushakova@yandex.ru</cp:lastModifiedBy>
  <cp:revision>11</cp:revision>
  <dcterms:created xsi:type="dcterms:W3CDTF">2020-06-21T11:59:54Z</dcterms:created>
  <dcterms:modified xsi:type="dcterms:W3CDTF">2026-03-23T17:15:25Z</dcterms:modified>
</cp:coreProperties>
</file>
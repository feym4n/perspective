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2" r:id="rId6"/>
    <p:sldId id="273" r:id="rId7"/>
    <p:sldId id="274" r:id="rId8"/>
    <p:sldId id="269" r:id="rId9"/>
    <p:sldId id="275" r:id="rId10"/>
    <p:sldId id="276" r:id="rId11"/>
    <p:sldId id="277" r:id="rId12"/>
    <p:sldId id="278" r:id="rId13"/>
    <p:sldId id="279" r:id="rId14"/>
    <p:sldId id="281" r:id="rId15"/>
    <p:sldId id="280" r:id="rId16"/>
    <p:sldId id="282" r:id="rId17"/>
    <p:sldId id="283" r:id="rId18"/>
    <p:sldId id="285" r:id="rId19"/>
    <p:sldId id="284" r:id="rId20"/>
    <p:sldId id="286" r:id="rId21"/>
    <p:sldId id="287" r:id="rId22"/>
    <p:sldId id="289" r:id="rId23"/>
    <p:sldId id="288" r:id="rId24"/>
    <p:sldId id="290" r:id="rId25"/>
    <p:sldId id="291" r:id="rId26"/>
    <p:sldId id="292" r:id="rId27"/>
    <p:sldId id="293" r:id="rId28"/>
    <p:sldId id="295" r:id="rId29"/>
    <p:sldId id="294" r:id="rId30"/>
    <p:sldId id="296" r:id="rId31"/>
    <p:sldId id="297" r:id="rId32"/>
    <p:sldId id="299" r:id="rId33"/>
    <p:sldId id="298" r:id="rId34"/>
    <p:sldId id="300" r:id="rId35"/>
    <p:sldId id="302" r:id="rId36"/>
    <p:sldId id="301" r:id="rId37"/>
    <p:sldId id="303" r:id="rId38"/>
    <p:sldId id="271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howGuides="1">
      <p:cViewPr>
        <p:scale>
          <a:sx n="75" d="100"/>
          <a:sy n="75" d="100"/>
        </p:scale>
        <p:origin x="974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DF145-3EC7-45A6-98DB-F2C7EFF8C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17AF95-71C1-4499-B23E-07B1784D0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1BE73C-EA6D-4225-8BDF-BB71555E8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E212F6-9108-4608-971C-D6D70D68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850029-9F9D-4176-B037-A9ECB3FB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66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21462-A9E1-4536-9F2D-B2F8F218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1B458C-BFE5-4FED-890B-A3C81CBD9E00}"/>
              </a:ext>
            </a:extLst>
          </p:cNvPr>
          <p:cNvSpPr/>
          <p:nvPr userDrawn="1"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4EC097-BE1E-47C5-A4A4-558BFD9F9C06}"/>
              </a:ext>
            </a:extLst>
          </p:cNvPr>
          <p:cNvSpPr/>
          <p:nvPr userDrawn="1"/>
        </p:nvSpPr>
        <p:spPr>
          <a:xfrm>
            <a:off x="12450" y="6772425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CD6CA42-8F84-4EF7-AC44-C6D7CA7B5256}"/>
              </a:ext>
            </a:extLst>
          </p:cNvPr>
          <p:cNvGrpSpPr/>
          <p:nvPr userDrawn="1"/>
        </p:nvGrpSpPr>
        <p:grpSpPr>
          <a:xfrm>
            <a:off x="0" y="49500"/>
            <a:ext cx="2844750" cy="274500"/>
            <a:chOff x="5228062" y="49500"/>
            <a:chExt cx="2844750" cy="274500"/>
          </a:xfrm>
          <a:solidFill>
            <a:schemeClr val="accent2"/>
          </a:solidFill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EF73193D-4957-4A8F-A457-261D1530DEC3}"/>
                </a:ext>
              </a:extLst>
            </p:cNvPr>
            <p:cNvSpPr/>
            <p:nvPr userDrawn="1"/>
          </p:nvSpPr>
          <p:spPr>
            <a:xfrm>
              <a:off x="5228062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Блок-схема: объединение 10">
              <a:extLst>
                <a:ext uri="{FF2B5EF4-FFF2-40B4-BE49-F238E27FC236}">
                  <a16:creationId xmlns:a16="http://schemas.microsoft.com/office/drawing/2014/main" id="{9CA2CB59-7E2E-4FE6-B4DA-BC82267C4973}"/>
                </a:ext>
              </a:extLst>
            </p:cNvPr>
            <p:cNvSpPr/>
            <p:nvPr userDrawn="1"/>
          </p:nvSpPr>
          <p:spPr>
            <a:xfrm>
              <a:off x="7465312" y="49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F77822EB-8A6C-4A70-8594-303E6651250C}"/>
              </a:ext>
            </a:extLst>
          </p:cNvPr>
          <p:cNvGrpSpPr/>
          <p:nvPr userDrawn="1"/>
        </p:nvGrpSpPr>
        <p:grpSpPr>
          <a:xfrm>
            <a:off x="9382650" y="6596925"/>
            <a:ext cx="2844750" cy="274500"/>
            <a:chOff x="9347250" y="6571200"/>
            <a:chExt cx="2844750" cy="274500"/>
          </a:xfrm>
          <a:solidFill>
            <a:schemeClr val="accent2"/>
          </a:solidFill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1DA2A97F-749F-48D2-AE48-5762F540EF28}"/>
                </a:ext>
              </a:extLst>
            </p:cNvPr>
            <p:cNvSpPr/>
            <p:nvPr userDrawn="1"/>
          </p:nvSpPr>
          <p:spPr>
            <a:xfrm>
              <a:off x="9651000" y="65712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" name="Блок-схема: объединение 13">
              <a:extLst>
                <a:ext uri="{FF2B5EF4-FFF2-40B4-BE49-F238E27FC236}">
                  <a16:creationId xmlns:a16="http://schemas.microsoft.com/office/drawing/2014/main" id="{3E93E1D6-3B3B-47F6-966E-B20E50008B90}"/>
                </a:ext>
              </a:extLst>
            </p:cNvPr>
            <p:cNvSpPr/>
            <p:nvPr userDrawn="1"/>
          </p:nvSpPr>
          <p:spPr>
            <a:xfrm rot="10800000">
              <a:off x="9347250" y="65712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" name="Текст 18">
            <a:extLst>
              <a:ext uri="{FF2B5EF4-FFF2-40B4-BE49-F238E27FC236}">
                <a16:creationId xmlns:a16="http://schemas.microsoft.com/office/drawing/2014/main" id="{57C0137E-3F0D-4D70-B2CA-0E5AD27AD1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033588"/>
            <a:ext cx="10444163" cy="4049712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2518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21462-A9E1-4536-9F2D-B2F8F218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8" y="365125"/>
            <a:ext cx="5257801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8D8509-D379-49B3-A4FE-EDBEE0641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0FB3E60-2F82-4C12-95B3-7ACC1B0E5862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1B458C-BFE5-4FED-890B-A3C81CBD9E00}"/>
              </a:ext>
            </a:extLst>
          </p:cNvPr>
          <p:cNvSpPr/>
          <p:nvPr userDrawn="1"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4EC097-BE1E-47C5-A4A4-558BFD9F9C06}"/>
              </a:ext>
            </a:extLst>
          </p:cNvPr>
          <p:cNvSpPr/>
          <p:nvPr userDrawn="1"/>
        </p:nvSpPr>
        <p:spPr>
          <a:xfrm>
            <a:off x="12450" y="6772425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17DD4B55-CA6E-4B68-97C9-646C6EC1FB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850" y="-575"/>
            <a:ext cx="5186362" cy="6858575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CD6CA42-8F84-4EF7-AC44-C6D7CA7B5256}"/>
              </a:ext>
            </a:extLst>
          </p:cNvPr>
          <p:cNvGrpSpPr/>
          <p:nvPr userDrawn="1"/>
        </p:nvGrpSpPr>
        <p:grpSpPr>
          <a:xfrm>
            <a:off x="5207212" y="36075"/>
            <a:ext cx="2844750" cy="274500"/>
            <a:chOff x="5228062" y="49500"/>
            <a:chExt cx="2844750" cy="274500"/>
          </a:xfrm>
          <a:solidFill>
            <a:schemeClr val="accent2"/>
          </a:solidFill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EF73193D-4957-4A8F-A457-261D1530DEC3}"/>
                </a:ext>
              </a:extLst>
            </p:cNvPr>
            <p:cNvSpPr/>
            <p:nvPr userDrawn="1"/>
          </p:nvSpPr>
          <p:spPr>
            <a:xfrm>
              <a:off x="5228062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1" name="Блок-схема: объединение 10">
              <a:extLst>
                <a:ext uri="{FF2B5EF4-FFF2-40B4-BE49-F238E27FC236}">
                  <a16:creationId xmlns:a16="http://schemas.microsoft.com/office/drawing/2014/main" id="{9CA2CB59-7E2E-4FE6-B4DA-BC82267C4973}"/>
                </a:ext>
              </a:extLst>
            </p:cNvPr>
            <p:cNvSpPr/>
            <p:nvPr userDrawn="1"/>
          </p:nvSpPr>
          <p:spPr>
            <a:xfrm>
              <a:off x="7465312" y="49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F77822EB-8A6C-4A70-8594-303E6651250C}"/>
              </a:ext>
            </a:extLst>
          </p:cNvPr>
          <p:cNvGrpSpPr/>
          <p:nvPr userDrawn="1"/>
        </p:nvGrpSpPr>
        <p:grpSpPr>
          <a:xfrm>
            <a:off x="9382650" y="6596925"/>
            <a:ext cx="2844750" cy="274500"/>
            <a:chOff x="9347250" y="6571200"/>
            <a:chExt cx="2844750" cy="274500"/>
          </a:xfrm>
          <a:solidFill>
            <a:schemeClr val="accent2"/>
          </a:solidFill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1DA2A97F-749F-48D2-AE48-5762F540EF28}"/>
                </a:ext>
              </a:extLst>
            </p:cNvPr>
            <p:cNvSpPr/>
            <p:nvPr userDrawn="1"/>
          </p:nvSpPr>
          <p:spPr>
            <a:xfrm>
              <a:off x="9651000" y="65712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4" name="Блок-схема: объединение 13">
              <a:extLst>
                <a:ext uri="{FF2B5EF4-FFF2-40B4-BE49-F238E27FC236}">
                  <a16:creationId xmlns:a16="http://schemas.microsoft.com/office/drawing/2014/main" id="{3E93E1D6-3B3B-47F6-966E-B20E50008B90}"/>
                </a:ext>
              </a:extLst>
            </p:cNvPr>
            <p:cNvSpPr/>
            <p:nvPr userDrawn="1"/>
          </p:nvSpPr>
          <p:spPr>
            <a:xfrm rot="10800000">
              <a:off x="9347250" y="65712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sp>
        <p:nvSpPr>
          <p:cNvPr id="16" name="Текст 18">
            <a:extLst>
              <a:ext uri="{FF2B5EF4-FFF2-40B4-BE49-F238E27FC236}">
                <a16:creationId xmlns:a16="http://schemas.microsoft.com/office/drawing/2014/main" id="{57C0137E-3F0D-4D70-B2CA-0E5AD27AD1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33588"/>
            <a:ext cx="5186363" cy="404971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3216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5E16D1-998B-48A7-9C66-2F192101B82F}"/>
              </a:ext>
            </a:extLst>
          </p:cNvPr>
          <p:cNvSpPr/>
          <p:nvPr userDrawn="1"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8120B5-0C92-46E1-BAA0-BA8A5399D9C2}"/>
              </a:ext>
            </a:extLst>
          </p:cNvPr>
          <p:cNvSpPr/>
          <p:nvPr userDrawn="1"/>
        </p:nvSpPr>
        <p:spPr>
          <a:xfrm>
            <a:off x="0" y="675900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BF0CE19-D07F-45F4-8B53-F4AE3EAC0AF5}"/>
              </a:ext>
            </a:extLst>
          </p:cNvPr>
          <p:cNvGrpSpPr/>
          <p:nvPr userDrawn="1"/>
        </p:nvGrpSpPr>
        <p:grpSpPr>
          <a:xfrm>
            <a:off x="4161000" y="150"/>
            <a:ext cx="2844750" cy="286020"/>
            <a:chOff x="9347250" y="37980"/>
            <a:chExt cx="2844750" cy="286020"/>
          </a:xfrm>
          <a:solidFill>
            <a:schemeClr val="accent2"/>
          </a:solidFill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6D0ED7C-6F6D-4A0C-B5BF-D4C886121974}"/>
                </a:ext>
              </a:extLst>
            </p:cNvPr>
            <p:cNvSpPr/>
            <p:nvPr userDrawn="1"/>
          </p:nvSpPr>
          <p:spPr>
            <a:xfrm>
              <a:off x="9651000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9" name="Блок-схема: объединение 8">
              <a:extLst>
                <a:ext uri="{FF2B5EF4-FFF2-40B4-BE49-F238E27FC236}">
                  <a16:creationId xmlns:a16="http://schemas.microsoft.com/office/drawing/2014/main" id="{F6313D72-2173-410E-9DAC-5F683BF77D8C}"/>
                </a:ext>
              </a:extLst>
            </p:cNvPr>
            <p:cNvSpPr/>
            <p:nvPr userDrawn="1"/>
          </p:nvSpPr>
          <p:spPr>
            <a:xfrm>
              <a:off x="9347250" y="3798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9D0FFF0F-DED0-4533-AA04-278237E63B65}"/>
              </a:ext>
            </a:extLst>
          </p:cNvPr>
          <p:cNvGrpSpPr/>
          <p:nvPr userDrawn="1"/>
        </p:nvGrpSpPr>
        <p:grpSpPr>
          <a:xfrm>
            <a:off x="-35250" y="6583500"/>
            <a:ext cx="2844750" cy="274500"/>
            <a:chOff x="-35250" y="6583500"/>
            <a:chExt cx="2844750" cy="274500"/>
          </a:xfrm>
          <a:solidFill>
            <a:schemeClr val="accent2"/>
          </a:solidFill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1E034F0-B288-495E-B8C4-5A4D6270B72C}"/>
                </a:ext>
              </a:extLst>
            </p:cNvPr>
            <p:cNvSpPr/>
            <p:nvPr userDrawn="1"/>
          </p:nvSpPr>
          <p:spPr>
            <a:xfrm>
              <a:off x="-35250" y="6583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2" name="Блок-схема: объединение 11">
              <a:extLst>
                <a:ext uri="{FF2B5EF4-FFF2-40B4-BE49-F238E27FC236}">
                  <a16:creationId xmlns:a16="http://schemas.microsoft.com/office/drawing/2014/main" id="{7F3095C1-9AE8-47F3-8F8B-8B149C02C892}"/>
                </a:ext>
              </a:extLst>
            </p:cNvPr>
            <p:cNvSpPr/>
            <p:nvPr userDrawn="1"/>
          </p:nvSpPr>
          <p:spPr>
            <a:xfrm rot="10800000">
              <a:off x="2202000" y="6583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9563E350-4964-48DA-95EE-507A76F601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5638" y="9000"/>
            <a:ext cx="5186362" cy="333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E44DF226-C979-4C53-9AB3-F30F19A6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987" y="485501"/>
            <a:ext cx="5257800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Текст 18">
            <a:extLst>
              <a:ext uri="{FF2B5EF4-FFF2-40B4-BE49-F238E27FC236}">
                <a16:creationId xmlns:a16="http://schemas.microsoft.com/office/drawing/2014/main" id="{C0D997C5-63D2-40A5-8978-8A0E7A482F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987" y="2153964"/>
            <a:ext cx="5186363" cy="404971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0DC8507B-223A-4D10-9873-5F8CBA1FA6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84638" y="3519000"/>
            <a:ext cx="5186362" cy="333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46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31BDB-50F3-43CA-877E-F9C7672D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74453DF6-9509-45CB-BD4E-84F90C1C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AF27442-62D0-4CA6-81B4-B7FDDA51A9A2}"/>
              </a:ext>
            </a:extLst>
          </p:cNvPr>
          <p:cNvSpPr/>
          <p:nvPr userDrawn="1"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FD6AC4-0F96-4D40-B8AD-EF85E9EDE11D}"/>
              </a:ext>
            </a:extLst>
          </p:cNvPr>
          <p:cNvSpPr/>
          <p:nvPr userDrawn="1"/>
        </p:nvSpPr>
        <p:spPr>
          <a:xfrm>
            <a:off x="0" y="675900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3640FF5-D492-4210-9DE4-D7B66426125F}"/>
              </a:ext>
            </a:extLst>
          </p:cNvPr>
          <p:cNvGrpSpPr/>
          <p:nvPr userDrawn="1"/>
        </p:nvGrpSpPr>
        <p:grpSpPr>
          <a:xfrm>
            <a:off x="9347250" y="37980"/>
            <a:ext cx="2844750" cy="286020"/>
            <a:chOff x="9347250" y="37980"/>
            <a:chExt cx="2844750" cy="286020"/>
          </a:xfrm>
          <a:solidFill>
            <a:schemeClr val="accent2"/>
          </a:solidFill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62B47E0-EF90-4ECC-A73E-6E5DA1F62FCD}"/>
                </a:ext>
              </a:extLst>
            </p:cNvPr>
            <p:cNvSpPr/>
            <p:nvPr userDrawn="1"/>
          </p:nvSpPr>
          <p:spPr>
            <a:xfrm>
              <a:off x="9651000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4" name="Блок-схема: объединение 13">
              <a:extLst>
                <a:ext uri="{FF2B5EF4-FFF2-40B4-BE49-F238E27FC236}">
                  <a16:creationId xmlns:a16="http://schemas.microsoft.com/office/drawing/2014/main" id="{2FC4DE4B-558A-425B-A23E-B63E93533558}"/>
                </a:ext>
              </a:extLst>
            </p:cNvPr>
            <p:cNvSpPr/>
            <p:nvPr userDrawn="1"/>
          </p:nvSpPr>
          <p:spPr>
            <a:xfrm>
              <a:off x="9347250" y="3798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1C3AA05-E7C7-4C27-A908-2E47AFEBA600}"/>
              </a:ext>
            </a:extLst>
          </p:cNvPr>
          <p:cNvGrpSpPr/>
          <p:nvPr userDrawn="1"/>
        </p:nvGrpSpPr>
        <p:grpSpPr>
          <a:xfrm>
            <a:off x="-35250" y="6583500"/>
            <a:ext cx="2844750" cy="274500"/>
            <a:chOff x="-35250" y="6583500"/>
            <a:chExt cx="2844750" cy="274500"/>
          </a:xfrm>
          <a:solidFill>
            <a:schemeClr val="accent2"/>
          </a:solidFill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94BF255-53E4-439B-83D0-7DE93A9900DD}"/>
                </a:ext>
              </a:extLst>
            </p:cNvPr>
            <p:cNvSpPr/>
            <p:nvPr userDrawn="1"/>
          </p:nvSpPr>
          <p:spPr>
            <a:xfrm>
              <a:off x="-35250" y="6583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7" name="Блок-схема: объединение 16">
              <a:extLst>
                <a:ext uri="{FF2B5EF4-FFF2-40B4-BE49-F238E27FC236}">
                  <a16:creationId xmlns:a16="http://schemas.microsoft.com/office/drawing/2014/main" id="{E38044D4-D5F4-4E1E-8B74-E24D6E7B2929}"/>
                </a:ext>
              </a:extLst>
            </p:cNvPr>
            <p:cNvSpPr/>
            <p:nvPr userDrawn="1"/>
          </p:nvSpPr>
          <p:spPr>
            <a:xfrm rot="10800000">
              <a:off x="2202000" y="6583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402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1">
            <a:extLst>
              <a:ext uri="{FF2B5EF4-FFF2-40B4-BE49-F238E27FC236}">
                <a16:creationId xmlns:a16="http://schemas.microsoft.com/office/drawing/2014/main" id="{AC7B45C4-0029-484F-BC10-E13FF562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234000"/>
            <a:ext cx="11341100" cy="10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F8FF044D-1DB9-4B7C-9D24-F0D3A3DD3C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450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738784A2-81B9-4C54-8F48-52CB72EF97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95341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21C4B4FC-EB7C-4B83-9B03-36AC76ADC6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61675" y="2303463"/>
            <a:ext cx="3004875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FC421DAD-9956-40BC-B396-121BDF52207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5450" y="4058163"/>
            <a:ext cx="3004875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0596AFFC-6327-4316-8A52-555C5499A3E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06109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Рисунок 2">
            <a:extLst>
              <a:ext uri="{FF2B5EF4-FFF2-40B4-BE49-F238E27FC236}">
                <a16:creationId xmlns:a16="http://schemas.microsoft.com/office/drawing/2014/main" id="{709A8CBC-B10E-4729-8664-C17D4F6947A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76000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05550F69-FB7F-4160-902B-8FE3C5C275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9739" y="1493838"/>
            <a:ext cx="11341100" cy="627062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3407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92008-DBD3-46BA-A4EB-58BFA372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A263C2-0CA0-4726-8ADC-C6857613C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9719FD-E040-478A-937E-C5F8CB573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5CE2BE-1276-4A04-9F8D-C0527D0F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ED891-380B-406A-A48E-D9981BE9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16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F919F-432B-4AAF-8366-DBD8B0A3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EE1D5D-3A6C-44DE-9213-A8F9E2F65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7C9EB4-F846-4602-95A8-B0BEE14A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928667-83F3-4E42-9D55-FA20CA34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F0AF01-74DE-44DE-9A8F-1BCE6A9B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416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B5CEA-7B09-498B-8E61-BAF2B438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E4A14F-68DF-4743-A047-6B0913610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BD6A83-0AEB-455B-B55A-FD3DBF861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A35E39-2F5B-42E0-9F90-6CD1453F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B8125E-8FB7-46F3-AC6F-CE8760D0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C29A5D-7DB3-4579-91B8-7C6BBC33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6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C117D-03E5-4898-897C-31A4ECA0B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DC9F88-A158-4658-AFFC-E2E365B59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6F0965-D614-4DD0-BF04-3373E6DDD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FDCF245-4B9D-469E-89B0-0FC6865F4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A83759-3CBB-4669-A645-20DA423B1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18D6578-AB4E-4BE7-B782-06097628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3260A9E-FBCA-49FF-B7EC-F2BB03FB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5D9A67-56DA-4FA6-A270-6F992686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00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C30C5-2530-4641-868D-38BB1367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63D42C-8588-4E3A-9FCF-22A4FE86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3FE8F1-5155-4638-922B-EEC6D8C6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3C91DF-AF8A-4B6B-8C41-C3810B77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801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89810C-4CE3-4421-BE5F-739DC68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AA0D72-7175-4B27-A46C-37D0297C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CF0C6B-2D65-41E3-BA05-25D2C6F3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309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944D6-DDB2-4018-B126-FC0F899D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B1234E-2933-42C3-AC43-2E3F57745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EF90F2-7940-4C9B-816C-A0E6F4F3D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43987E-1DFD-40D6-8748-DC2AE1D1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89573C-CD38-4ED6-9A0C-EBCCECD4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10EBFF-743C-4106-99AB-1F62ECF6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462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F0872-3855-4DC2-A1E8-6E26E19E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A06CD3-1CFF-452C-9F89-7041FDD40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836A75-AF44-4E3D-927A-2D55DC3A3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527F93-44C5-488C-8AD3-AC0EAAE79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3ED294-37D0-4106-B426-5931649B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C783C9-2EDC-4FCC-9BB8-CA68C54F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845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13664-7467-4A8B-BE24-A856234D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E49FE4-537C-45E2-B665-1F23C0B6D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0C032-8B29-431A-9431-52DF2E01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FE6883-F6ED-4455-97B7-0524237F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64DD1E-F3EC-4EED-9C25-D8E5FBC4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53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80DBFF-8C1D-4708-B5C5-91EEC8F65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8C8DE9-BF79-4004-84C0-B59CECEA5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929F-CB95-4E24-9E5D-84659149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2A74B6-C1FF-4904-A387-44536163D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7F510F-7642-43B8-81D1-48C258B3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22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23AAE-BFC3-4CCA-AE74-B41E221D4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EDEEE5-CAEC-4DC9-841D-3496A6CA3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1D8F9E-5681-4397-8620-6A534D50A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2E417-5F45-4CBD-AEF8-95048E7B5C99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8EBA8A-57C7-4851-9A59-C2739AE8B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E8C9F0-2955-4F31-909E-A7D69B4CB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8"/>
            <a:extLst>
              <a:ext uri="{FF2B5EF4-FFF2-40B4-BE49-F238E27FC236}">
                <a16:creationId xmlns:a16="http://schemas.microsoft.com/office/drawing/2014/main" id="{5BF8621D-8206-4C22-9818-F327ED8B7AD2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5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179000"/>
            <a:ext cx="8820000" cy="1399264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 Психология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как наука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000" y="1809000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900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5D56E9C-1F8B-4437-A4A4-E2B9BC4F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и этимология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C4560F-6F86-43D5-B90C-407331963A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899000"/>
            <a:ext cx="11647800" cy="4049712"/>
          </a:xfrm>
        </p:spPr>
        <p:txBody>
          <a:bodyPr>
            <a:normAutofit/>
          </a:bodyPr>
          <a:lstStyle/>
          <a:p>
            <a:r>
              <a:rPr lang="ru-RU" dirty="0"/>
              <a:t>Психология (от греч. </a:t>
            </a:r>
            <a:r>
              <a:rPr lang="ru-RU" dirty="0" err="1"/>
              <a:t>psyche</a:t>
            </a:r>
            <a:r>
              <a:rPr lang="ru-RU" dirty="0"/>
              <a:t> — душа, дыхание; </a:t>
            </a:r>
            <a:r>
              <a:rPr lang="ru-RU" dirty="0" err="1"/>
              <a:t>logos</a:t>
            </a:r>
            <a:r>
              <a:rPr lang="ru-RU" dirty="0"/>
              <a:t> — слово, учение, наука) — это область научного знания, исследующая закономерности возникновения, развития и функционирования психики и психических явлений. </a:t>
            </a:r>
            <a:endParaRPr lang="ru-RU" dirty="0" smtClean="0"/>
          </a:p>
          <a:p>
            <a:r>
              <a:rPr lang="ru-RU" dirty="0" smtClean="0"/>
              <a:t>Изначально </a:t>
            </a:r>
            <a:r>
              <a:rPr lang="ru-RU" dirty="0"/>
              <a:t>психология понималась как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наука о душе</a:t>
            </a:r>
            <a:r>
              <a:rPr lang="ru-RU" dirty="0"/>
              <a:t>, затем —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о</a:t>
            </a:r>
            <a:r>
              <a:rPr lang="ru-RU" dirty="0"/>
              <a:t>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сознании</a:t>
            </a:r>
            <a:r>
              <a:rPr lang="ru-RU" dirty="0"/>
              <a:t>, позже —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о поведении</a:t>
            </a:r>
            <a:r>
              <a:rPr lang="ru-RU" dirty="0"/>
              <a:t>, а современная трактовка объединяет эти аспекты, рассматривая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психику как высшую форму отражения действительности</a:t>
            </a:r>
            <a:r>
              <a:rPr lang="ru-RU" dirty="0"/>
              <a:t>, позволяющую субъекту ориентироваться в мире, регулировать деятельность и выстраивать внутреннюю картину мира.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33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16A5D05-3A7A-4D43-B7E2-27134D82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и предмет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психологии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223917-F3CC-4622-9094-4E44B6E974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E1391FE5-288D-4397-9495-7CEDD6B0E5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81000" y="1764000"/>
            <a:ext cx="5572799" cy="5400000"/>
          </a:xfrm>
        </p:spPr>
        <p:txBody>
          <a:bodyPr>
            <a:normAutofit fontScale="47500" lnSpcReduction="20000"/>
          </a:bodyPr>
          <a:lstStyle/>
          <a:p>
            <a:r>
              <a:rPr lang="ru-RU" sz="3800" dirty="0">
                <a:solidFill>
                  <a:schemeClr val="accent6">
                    <a:lumMod val="75000"/>
                  </a:schemeClr>
                </a:solidFill>
              </a:rPr>
              <a:t>Объект</a:t>
            </a:r>
            <a:r>
              <a:rPr lang="ru-RU" sz="3800" dirty="0"/>
              <a:t> — психика как сложнейшее свойство высокоорганизованной материи (мозга). Психика присуща человеку и животным, но человеческая психика качественно иная благодаря наличию сознания, культуры и речи</a:t>
            </a:r>
            <a:r>
              <a:rPr lang="ru-RU" sz="3800" dirty="0" smtClean="0"/>
              <a:t>.</a:t>
            </a:r>
          </a:p>
          <a:p>
            <a:r>
              <a:rPr lang="ru-RU" sz="3800" dirty="0">
                <a:solidFill>
                  <a:schemeClr val="accent6">
                    <a:lumMod val="75000"/>
                  </a:schemeClr>
                </a:solidFill>
              </a:rPr>
              <a:t>Предмет</a:t>
            </a:r>
            <a:r>
              <a:rPr lang="ru-RU" sz="3800" dirty="0"/>
              <a:t> — исторически изменчив:</a:t>
            </a:r>
            <a:endParaRPr lang="ru-RU" sz="3800" dirty="0"/>
          </a:p>
          <a:p>
            <a:pPr marL="0" indent="0">
              <a:buNone/>
            </a:pPr>
            <a:r>
              <a:rPr lang="ru-RU" sz="3800" dirty="0" smtClean="0"/>
              <a:t>1</a:t>
            </a:r>
            <a:r>
              <a:rPr lang="ru-RU" sz="3800" dirty="0"/>
              <a:t>. Античность: </a:t>
            </a:r>
            <a:r>
              <a:rPr lang="ru-RU" sz="3800" dirty="0">
                <a:solidFill>
                  <a:schemeClr val="accent6">
                    <a:lumMod val="75000"/>
                  </a:schemeClr>
                </a:solidFill>
              </a:rPr>
              <a:t>душа</a:t>
            </a:r>
            <a:r>
              <a:rPr lang="ru-RU" sz="3800" dirty="0"/>
              <a:t> как источник активности и жизни.</a:t>
            </a:r>
            <a:endParaRPr lang="ru-RU" sz="3800" dirty="0"/>
          </a:p>
          <a:p>
            <a:pPr marL="0" indent="0">
              <a:buNone/>
            </a:pPr>
            <a:r>
              <a:rPr lang="ru-RU" sz="3800" dirty="0" smtClean="0"/>
              <a:t>2</a:t>
            </a:r>
            <a:r>
              <a:rPr lang="ru-RU" sz="3800" dirty="0"/>
              <a:t>. XVII–XIX вв.: </a:t>
            </a:r>
            <a:r>
              <a:rPr lang="ru-RU" sz="3800" dirty="0">
                <a:solidFill>
                  <a:schemeClr val="accent6">
                    <a:lumMod val="75000"/>
                  </a:schemeClr>
                </a:solidFill>
              </a:rPr>
              <a:t>сознание</a:t>
            </a:r>
            <a:r>
              <a:rPr lang="ru-RU" sz="3800" dirty="0"/>
              <a:t> — способность человека думать, чувствовать, желать. Изучалось интроспективно (самонаблюдение).</a:t>
            </a:r>
            <a:endParaRPr lang="ru-RU" sz="3800" dirty="0"/>
          </a:p>
          <a:p>
            <a:pPr marL="0" indent="0">
              <a:buNone/>
            </a:pPr>
            <a:r>
              <a:rPr lang="ru-RU" sz="3800" dirty="0" smtClean="0"/>
              <a:t>3</a:t>
            </a:r>
            <a:r>
              <a:rPr lang="ru-RU" sz="3800" dirty="0"/>
              <a:t>. Начало XX в.: </a:t>
            </a:r>
            <a:r>
              <a:rPr lang="ru-RU" sz="3800" dirty="0">
                <a:solidFill>
                  <a:schemeClr val="accent6">
                    <a:lumMod val="75000"/>
                  </a:schemeClr>
                </a:solidFill>
              </a:rPr>
              <a:t>поведение</a:t>
            </a:r>
            <a:r>
              <a:rPr lang="ru-RU" sz="3800" dirty="0"/>
              <a:t> — наблюдаемые реакции организма (бихевиоризм).</a:t>
            </a:r>
            <a:endParaRPr lang="ru-RU" sz="3800" dirty="0"/>
          </a:p>
          <a:p>
            <a:pPr marL="0" indent="0">
              <a:buNone/>
            </a:pPr>
            <a:r>
              <a:rPr lang="ru-RU" sz="3800" dirty="0" smtClean="0"/>
              <a:t>4</a:t>
            </a:r>
            <a:r>
              <a:rPr lang="ru-RU" sz="3800" dirty="0"/>
              <a:t>. Середина XX в.: целостные структуры </a:t>
            </a:r>
            <a:r>
              <a:rPr lang="ru-RU" sz="3800" dirty="0">
                <a:solidFill>
                  <a:schemeClr val="accent6">
                    <a:lumMod val="75000"/>
                  </a:schemeClr>
                </a:solidFill>
              </a:rPr>
              <a:t>психики</a:t>
            </a:r>
            <a:r>
              <a:rPr lang="ru-RU" sz="3800" dirty="0"/>
              <a:t>, бессознательное, процессы переработки информации.</a:t>
            </a:r>
            <a:endParaRPr lang="ru-RU" sz="3800" dirty="0"/>
          </a:p>
          <a:p>
            <a:pPr marL="0" indent="0">
              <a:buNone/>
            </a:pPr>
            <a:r>
              <a:rPr lang="ru-RU" sz="3800" dirty="0" smtClean="0"/>
              <a:t>5</a:t>
            </a:r>
            <a:r>
              <a:rPr lang="ru-RU" sz="3800" dirty="0"/>
              <a:t>. Современность: </a:t>
            </a:r>
            <a:r>
              <a:rPr lang="ru-RU" sz="3800" dirty="0">
                <a:solidFill>
                  <a:schemeClr val="accent6">
                    <a:lumMod val="75000"/>
                  </a:schemeClr>
                </a:solidFill>
              </a:rPr>
              <a:t>психика как системное качество</a:t>
            </a:r>
            <a:r>
              <a:rPr lang="ru-RU" sz="3800" dirty="0"/>
              <a:t>, включающее субъективный опыт, нейрофизиологические механизмы, поведенческие паттерны и социальные взаимодействия.</a:t>
            </a:r>
            <a:endParaRPr lang="ru-RU" sz="3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384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C7A5087-0AB9-41CE-AC52-4056DEBD33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B6DADDF4-E88A-4747-82C6-A201832C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Отличие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житейской </a:t>
            </a:r>
            <a:r>
              <a:rPr lang="ru-RU" dirty="0"/>
              <a:t>психологии от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научной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B00AB64-E837-40FD-BC48-5472AB5EB5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Житейская</a:t>
            </a:r>
            <a:r>
              <a:rPr lang="ru-RU" dirty="0"/>
              <a:t>: основана на личном опыте, интуитивна, фрагментарна, часто противоречива, передаётся устно.</a:t>
            </a:r>
            <a:endParaRPr lang="ru-RU" dirty="0"/>
          </a:p>
          <a:p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Научная</a:t>
            </a:r>
            <a:r>
              <a:rPr lang="ru-RU" dirty="0"/>
              <a:t>: опирается на факты, законы, проверяемые гипотезы; использует специальные методы; систематизирована; понятия строго определены; постоянно развивается и корректируется.</a:t>
            </a:r>
            <a:endParaRPr lang="ru-RU" dirty="0"/>
          </a:p>
          <a:p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2ABC9E5-6FB4-4518-92D4-8499429FFF9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8626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B6047-1227-4491-8FB1-C8E54DFC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Методы</a:t>
            </a:r>
            <a:r>
              <a:rPr lang="ru-RU" dirty="0"/>
              <a:t> психологического </a:t>
            </a:r>
            <a:r>
              <a:rPr lang="ru-RU" dirty="0" smtClean="0"/>
              <a:t>исследования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C08B42-36F1-41C2-AAE3-3792499C6B3A}"/>
              </a:ext>
            </a:extLst>
          </p:cNvPr>
          <p:cNvSpPr/>
          <p:nvPr/>
        </p:nvSpPr>
        <p:spPr>
          <a:xfrm>
            <a:off x="1776000" y="2117288"/>
            <a:ext cx="2250000" cy="765000"/>
          </a:xfrm>
          <a:prstGeom prst="rect">
            <a:avLst/>
          </a:prstGeom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431A14-E589-47D0-8477-C6ED33D1511D}"/>
              </a:ext>
            </a:extLst>
          </p:cNvPr>
          <p:cNvSpPr/>
          <p:nvPr/>
        </p:nvSpPr>
        <p:spPr>
          <a:xfrm>
            <a:off x="4026000" y="2113932"/>
            <a:ext cx="2250000" cy="765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E6ABAA-B1F7-4D47-B81C-AFC1BB9B7DDD}"/>
              </a:ext>
            </a:extLst>
          </p:cNvPr>
          <p:cNvSpPr/>
          <p:nvPr/>
        </p:nvSpPr>
        <p:spPr>
          <a:xfrm>
            <a:off x="6276437" y="2113932"/>
            <a:ext cx="2250000" cy="765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A0F407-DAB3-484D-AF56-F7EEC36D0C2F}"/>
              </a:ext>
            </a:extLst>
          </p:cNvPr>
          <p:cNvSpPr/>
          <p:nvPr/>
        </p:nvSpPr>
        <p:spPr>
          <a:xfrm>
            <a:off x="8527800" y="2113932"/>
            <a:ext cx="2250000" cy="765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88BA6BD-A7A2-476B-8FE2-B9E2F93FFBE8}"/>
              </a:ext>
            </a:extLst>
          </p:cNvPr>
          <p:cNvSpPr/>
          <p:nvPr/>
        </p:nvSpPr>
        <p:spPr>
          <a:xfrm>
            <a:off x="1776000" y="2888999"/>
            <a:ext cx="2250000" cy="2970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BB886A5-696B-49DA-A237-A597D43BE685}"/>
              </a:ext>
            </a:extLst>
          </p:cNvPr>
          <p:cNvSpPr/>
          <p:nvPr/>
        </p:nvSpPr>
        <p:spPr>
          <a:xfrm>
            <a:off x="4026000" y="2885643"/>
            <a:ext cx="2250000" cy="2970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FC2BAB8-4DDC-4D3F-9432-BD335E52355E}"/>
              </a:ext>
            </a:extLst>
          </p:cNvPr>
          <p:cNvSpPr/>
          <p:nvPr/>
        </p:nvSpPr>
        <p:spPr>
          <a:xfrm>
            <a:off x="6276437" y="2885643"/>
            <a:ext cx="2250000" cy="2970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9A943BA-A41D-43A9-809F-C4D35AA0B94F}"/>
              </a:ext>
            </a:extLst>
          </p:cNvPr>
          <p:cNvSpPr/>
          <p:nvPr/>
        </p:nvSpPr>
        <p:spPr>
          <a:xfrm>
            <a:off x="8527800" y="2885643"/>
            <a:ext cx="2250000" cy="2970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8195AB6-BA8F-4E20-8D35-286E8838BF2F}"/>
              </a:ext>
            </a:extLst>
          </p:cNvPr>
          <p:cNvSpPr/>
          <p:nvPr/>
        </p:nvSpPr>
        <p:spPr>
          <a:xfrm>
            <a:off x="1780257" y="5675644"/>
            <a:ext cx="2250000" cy="183356"/>
          </a:xfrm>
          <a:prstGeom prst="rect">
            <a:avLst/>
          </a:prstGeom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95E1DEA-DB19-458D-97AD-C2E9B32F861A}"/>
              </a:ext>
            </a:extLst>
          </p:cNvPr>
          <p:cNvSpPr/>
          <p:nvPr/>
        </p:nvSpPr>
        <p:spPr>
          <a:xfrm>
            <a:off x="4031157" y="5672288"/>
            <a:ext cx="2250000" cy="18335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7F8F6D5-8C18-4F76-B905-9DE992A4CD86}"/>
              </a:ext>
            </a:extLst>
          </p:cNvPr>
          <p:cNvSpPr/>
          <p:nvPr/>
        </p:nvSpPr>
        <p:spPr>
          <a:xfrm>
            <a:off x="6280694" y="5672288"/>
            <a:ext cx="2250000" cy="183356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EF07FE4-D37C-47BB-A72B-8924338F547E}"/>
              </a:ext>
            </a:extLst>
          </p:cNvPr>
          <p:cNvSpPr/>
          <p:nvPr/>
        </p:nvSpPr>
        <p:spPr>
          <a:xfrm>
            <a:off x="8532057" y="5672288"/>
            <a:ext cx="2250000" cy="18335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68C9FC-A7FD-4D1F-9E89-B42634FAEE3F}"/>
              </a:ext>
            </a:extLst>
          </p:cNvPr>
          <p:cNvSpPr txBox="1"/>
          <p:nvPr/>
        </p:nvSpPr>
        <p:spPr>
          <a:xfrm>
            <a:off x="2583041" y="2123359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CA693B-8555-4836-847F-2FB3CB1964A8}"/>
              </a:ext>
            </a:extLst>
          </p:cNvPr>
          <p:cNvSpPr txBox="1"/>
          <p:nvPr/>
        </p:nvSpPr>
        <p:spPr>
          <a:xfrm>
            <a:off x="4836884" y="2139432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A015A-A44A-4B76-855A-1FE204F281E8}"/>
              </a:ext>
            </a:extLst>
          </p:cNvPr>
          <p:cNvSpPr txBox="1"/>
          <p:nvPr/>
        </p:nvSpPr>
        <p:spPr>
          <a:xfrm>
            <a:off x="7028026" y="2139432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D7C437-E284-46C9-8883-8C7C3C9A0EBF}"/>
              </a:ext>
            </a:extLst>
          </p:cNvPr>
          <p:cNvSpPr txBox="1"/>
          <p:nvPr/>
        </p:nvSpPr>
        <p:spPr>
          <a:xfrm>
            <a:off x="9264301" y="2139432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DA1C8E-B0C7-4AD3-8FF8-48856A28757F}"/>
              </a:ext>
            </a:extLst>
          </p:cNvPr>
          <p:cNvSpPr txBox="1"/>
          <p:nvPr/>
        </p:nvSpPr>
        <p:spPr>
          <a:xfrm>
            <a:off x="1705105" y="3064975"/>
            <a:ext cx="23892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1"/>
                </a:solidFill>
              </a:rPr>
              <a:t>Организационные </a:t>
            </a:r>
            <a:r>
              <a:rPr lang="ru-RU" b="1" dirty="0" smtClean="0">
                <a:solidFill>
                  <a:schemeClr val="accent1"/>
                </a:solidFill>
              </a:rPr>
              <a:t>методы </a:t>
            </a:r>
            <a:r>
              <a:rPr lang="ru-RU" sz="1600" dirty="0" smtClean="0"/>
              <a:t>(</a:t>
            </a:r>
            <a:r>
              <a:rPr lang="ru-RU" sz="1600" dirty="0"/>
              <a:t>определяют стратегию исследования</a:t>
            </a:r>
            <a:r>
              <a:rPr lang="ru-RU" sz="1600" dirty="0" smtClean="0"/>
              <a:t>)</a:t>
            </a:r>
            <a:endParaRPr lang="ru-RU" sz="1600" b="1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1F6E92-4BDE-4260-B1D6-EE7B140EF806}"/>
              </a:ext>
            </a:extLst>
          </p:cNvPr>
          <p:cNvSpPr txBox="1"/>
          <p:nvPr/>
        </p:nvSpPr>
        <p:spPr>
          <a:xfrm>
            <a:off x="1767140" y="3947955"/>
            <a:ext cx="2179950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600" dirty="0"/>
              <a:t>· </a:t>
            </a:r>
            <a:r>
              <a:rPr lang="ru-RU" sz="1600" dirty="0" smtClean="0"/>
              <a:t>Сравнительный </a:t>
            </a:r>
          </a:p>
          <a:p>
            <a:pPr algn="ctr">
              <a:lnSpc>
                <a:spcPct val="150000"/>
              </a:lnSpc>
            </a:pPr>
            <a:r>
              <a:rPr lang="ru-RU" sz="1600" dirty="0" smtClean="0"/>
              <a:t>· </a:t>
            </a:r>
            <a:r>
              <a:rPr lang="ru-RU" sz="1600" dirty="0" err="1"/>
              <a:t>Лонгитюдный</a:t>
            </a:r>
            <a:r>
              <a:rPr lang="ru-RU" sz="1600" dirty="0"/>
              <a:t> </a:t>
            </a:r>
            <a:endParaRPr lang="ru-RU" sz="1600" dirty="0" smtClean="0"/>
          </a:p>
          <a:p>
            <a:pPr algn="ctr">
              <a:lnSpc>
                <a:spcPct val="150000"/>
              </a:lnSpc>
            </a:pPr>
            <a:r>
              <a:rPr lang="ru-RU" sz="1600" dirty="0" smtClean="0"/>
              <a:t>· Комплексный</a:t>
            </a:r>
            <a:endParaRPr lang="ru-RU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181017-442A-4EA5-A76E-1658B189A28F}"/>
              </a:ext>
            </a:extLst>
          </p:cNvPr>
          <p:cNvSpPr txBox="1"/>
          <p:nvPr/>
        </p:nvSpPr>
        <p:spPr>
          <a:xfrm>
            <a:off x="4060675" y="3121275"/>
            <a:ext cx="2307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Эмпирические </a:t>
            </a:r>
            <a:r>
              <a:rPr lang="ru-RU" b="1" dirty="0" smtClean="0">
                <a:solidFill>
                  <a:schemeClr val="accent2"/>
                </a:solidFill>
              </a:rPr>
              <a:t>методы </a:t>
            </a:r>
            <a:r>
              <a:rPr lang="ru-RU" sz="1600" dirty="0"/>
              <a:t>(сбор данных</a:t>
            </a:r>
            <a:r>
              <a:rPr lang="ru-RU" sz="1600" dirty="0" smtClean="0"/>
              <a:t>)</a:t>
            </a:r>
            <a:endParaRPr lang="ru-RU" sz="1600" b="1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BB918C-C6BD-4944-A60F-D8AA452E0BAC}"/>
              </a:ext>
            </a:extLst>
          </p:cNvPr>
          <p:cNvSpPr txBox="1"/>
          <p:nvPr/>
        </p:nvSpPr>
        <p:spPr>
          <a:xfrm>
            <a:off x="3819781" y="3812006"/>
            <a:ext cx="25851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· </a:t>
            </a:r>
            <a:r>
              <a:rPr lang="ru-RU" sz="1600" dirty="0" smtClean="0"/>
              <a:t>Наблюдение</a:t>
            </a:r>
          </a:p>
          <a:p>
            <a:pPr algn="ctr"/>
            <a:r>
              <a:rPr lang="ru-RU" sz="1600" dirty="0" smtClean="0"/>
              <a:t>· Эксперимент</a:t>
            </a:r>
          </a:p>
          <a:p>
            <a:pPr algn="ctr"/>
            <a:r>
              <a:rPr lang="ru-RU" sz="1600" dirty="0" smtClean="0"/>
              <a:t>· </a:t>
            </a:r>
            <a:r>
              <a:rPr lang="ru-RU" sz="1600" dirty="0"/>
              <a:t>Психодиагностические </a:t>
            </a:r>
            <a:r>
              <a:rPr lang="ru-RU" sz="1600" dirty="0" smtClean="0"/>
              <a:t>методы</a:t>
            </a:r>
          </a:p>
          <a:p>
            <a:pPr algn="ctr"/>
            <a:r>
              <a:rPr lang="ru-RU" sz="1600" dirty="0" smtClean="0"/>
              <a:t>· </a:t>
            </a:r>
            <a:r>
              <a:rPr lang="ru-RU" sz="1600" dirty="0"/>
              <a:t>Анализ продуктов </a:t>
            </a:r>
            <a:r>
              <a:rPr lang="ru-RU" sz="1600" dirty="0" smtClean="0"/>
              <a:t>деятельности</a:t>
            </a:r>
            <a:endParaRPr lang="ru-RU" sz="1600" dirty="0"/>
          </a:p>
          <a:p>
            <a:pPr algn="ctr"/>
            <a:r>
              <a:rPr lang="ru-RU" sz="1600" dirty="0" smtClean="0"/>
              <a:t>· </a:t>
            </a:r>
            <a:r>
              <a:rPr lang="ru-RU" sz="1600" dirty="0"/>
              <a:t>Беседа и </a:t>
            </a:r>
            <a:r>
              <a:rPr lang="ru-RU" sz="1600" dirty="0" smtClean="0"/>
              <a:t>интервью</a:t>
            </a:r>
            <a:endParaRPr lang="ru-RU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4FB1E2-71CA-4285-99AB-63649D92FBE1}"/>
              </a:ext>
            </a:extLst>
          </p:cNvPr>
          <p:cNvSpPr txBox="1"/>
          <p:nvPr/>
        </p:nvSpPr>
        <p:spPr>
          <a:xfrm>
            <a:off x="6354910" y="3233508"/>
            <a:ext cx="2112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5"/>
                </a:solidFill>
              </a:rPr>
              <a:t>Методы обработки данных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80C934-C3BA-4FDE-8BBE-8EEB8E669B9B}"/>
              </a:ext>
            </a:extLst>
          </p:cNvPr>
          <p:cNvSpPr txBox="1"/>
          <p:nvPr/>
        </p:nvSpPr>
        <p:spPr>
          <a:xfrm>
            <a:off x="6429380" y="3807419"/>
            <a:ext cx="1939257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600" dirty="0" smtClean="0"/>
              <a:t>· Количественный и качественный анализ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74F04A-A36B-4AE8-AF3B-7EEC30B8174E}"/>
              </a:ext>
            </a:extLst>
          </p:cNvPr>
          <p:cNvSpPr txBox="1"/>
          <p:nvPr/>
        </p:nvSpPr>
        <p:spPr>
          <a:xfrm>
            <a:off x="8504796" y="3233508"/>
            <a:ext cx="2296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6"/>
                </a:solidFill>
              </a:rPr>
              <a:t>Интерпретационные методы</a:t>
            </a:r>
            <a:endParaRPr lang="ru-RU" b="1" dirty="0">
              <a:solidFill>
                <a:schemeClr val="accent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A1F4E3-5489-44E5-BCDF-5483E99BB2CE}"/>
              </a:ext>
            </a:extLst>
          </p:cNvPr>
          <p:cNvSpPr txBox="1"/>
          <p:nvPr/>
        </p:nvSpPr>
        <p:spPr>
          <a:xfrm>
            <a:off x="8659191" y="4390060"/>
            <a:ext cx="193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6394" y="1391275"/>
            <a:ext cx="88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Подразделяются на четыре группы (по Б.Г. Ананьеву):</a:t>
            </a:r>
            <a:endParaRPr lang="ru-RU" sz="2400" dirty="0">
              <a:solidFill>
                <a:schemeClr val="accent6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55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Место психологии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в системе </a:t>
            </a:r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наук.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651000" y="1690688"/>
            <a:ext cx="6930001" cy="4392612"/>
          </a:xfrm>
        </p:spPr>
        <p:txBody>
          <a:bodyPr>
            <a:normAutofit/>
          </a:bodyPr>
          <a:lstStyle/>
          <a:p>
            <a:r>
              <a:rPr lang="ru-RU" dirty="0"/>
              <a:t>Академик А. Кедров поместил психологию в центр «</a:t>
            </a:r>
            <a:r>
              <a:rPr lang="ru-RU" dirty="0" smtClean="0"/>
              <a:t>треугольника наук</a:t>
            </a:r>
            <a:r>
              <a:rPr lang="ru-RU" dirty="0"/>
              <a:t>», так как она объединяет:</a:t>
            </a:r>
          </a:p>
          <a:p>
            <a:r>
              <a:rPr lang="ru-RU" dirty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Естественные науки </a:t>
            </a:r>
            <a:r>
              <a:rPr lang="ru-RU" dirty="0"/>
              <a:t>(</a:t>
            </a:r>
            <a:r>
              <a:rPr lang="ru-RU" dirty="0" smtClean="0"/>
              <a:t>через нейрофизиологию</a:t>
            </a:r>
            <a:r>
              <a:rPr lang="ru-RU" dirty="0"/>
              <a:t>, </a:t>
            </a:r>
            <a:r>
              <a:rPr lang="ru-RU" dirty="0" smtClean="0"/>
              <a:t>биологию, медицину</a:t>
            </a:r>
            <a:r>
              <a:rPr lang="ru-RU" dirty="0"/>
              <a:t>).</a:t>
            </a:r>
          </a:p>
          <a:p>
            <a:r>
              <a:rPr lang="ru-RU" dirty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Социальные науки </a:t>
            </a:r>
            <a:r>
              <a:rPr lang="ru-RU" dirty="0"/>
              <a:t>(через социологию, педагогику, историю).</a:t>
            </a:r>
          </a:p>
          <a:p>
            <a:r>
              <a:rPr lang="ru-RU" dirty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Философские науки</a:t>
            </a:r>
            <a:r>
              <a:rPr lang="ru-RU" dirty="0"/>
              <a:t> (через теорию познания, этику).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000" y="2082159"/>
            <a:ext cx="4763405" cy="374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74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179000"/>
            <a:ext cx="8820000" cy="1399264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 История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психологии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000" y="1809000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147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19296DE-E499-4BFB-9D6C-B12516A12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Этапы становления </a:t>
            </a:r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психологии как науки.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36A185A8-DC91-4856-8667-DAB40D56ABA5}"/>
              </a:ext>
            </a:extLst>
          </p:cNvPr>
          <p:cNvSpPr/>
          <p:nvPr/>
        </p:nvSpPr>
        <p:spPr>
          <a:xfrm>
            <a:off x="8301000" y="2574000"/>
            <a:ext cx="2745000" cy="1485000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B32D1A-C350-4449-B81A-F1886A7ED552}"/>
              </a:ext>
            </a:extLst>
          </p:cNvPr>
          <p:cNvSpPr/>
          <p:nvPr/>
        </p:nvSpPr>
        <p:spPr>
          <a:xfrm>
            <a:off x="6616850" y="2945765"/>
            <a:ext cx="1690500" cy="7404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A892C0F-0900-4E39-B2D8-1D77BE49C9AC}"/>
              </a:ext>
            </a:extLst>
          </p:cNvPr>
          <p:cNvSpPr/>
          <p:nvPr/>
        </p:nvSpPr>
        <p:spPr>
          <a:xfrm>
            <a:off x="4929525" y="2945764"/>
            <a:ext cx="1690500" cy="7404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53CCA7F-518A-4905-9462-40C1C1D8B904}"/>
              </a:ext>
            </a:extLst>
          </p:cNvPr>
          <p:cNvSpPr/>
          <p:nvPr/>
        </p:nvSpPr>
        <p:spPr>
          <a:xfrm>
            <a:off x="3243305" y="2945764"/>
            <a:ext cx="1690500" cy="7404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01E228C-E55A-4C8B-8D8F-F8DDEAD1B1AD}"/>
              </a:ext>
            </a:extLst>
          </p:cNvPr>
          <p:cNvSpPr/>
          <p:nvPr/>
        </p:nvSpPr>
        <p:spPr>
          <a:xfrm>
            <a:off x="1552805" y="2945764"/>
            <a:ext cx="1690500" cy="7404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E8157E-8A3E-4BDC-9129-09AC347B28A9}"/>
              </a:ext>
            </a:extLst>
          </p:cNvPr>
          <p:cNvSpPr txBox="1"/>
          <p:nvPr/>
        </p:nvSpPr>
        <p:spPr>
          <a:xfrm>
            <a:off x="8442206" y="2959713"/>
            <a:ext cx="1393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V </a:t>
            </a:r>
            <a:r>
              <a:rPr lang="ru-RU" sz="3600" dirty="0">
                <a:solidFill>
                  <a:schemeClr val="bg2"/>
                </a:solidFill>
              </a:rPr>
              <a:t>этап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5C48BA-14E7-4EF6-81A2-D62869D8A099}"/>
              </a:ext>
            </a:extLst>
          </p:cNvPr>
          <p:cNvSpPr txBox="1"/>
          <p:nvPr/>
        </p:nvSpPr>
        <p:spPr>
          <a:xfrm>
            <a:off x="6702499" y="2959713"/>
            <a:ext cx="15101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IV </a:t>
            </a:r>
            <a:r>
              <a:rPr lang="ru-RU" sz="3600" dirty="0">
                <a:solidFill>
                  <a:schemeClr val="bg2"/>
                </a:solidFill>
              </a:rPr>
              <a:t>этап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0970A3-B863-4131-80E4-3C38EDAB317F}"/>
              </a:ext>
            </a:extLst>
          </p:cNvPr>
          <p:cNvSpPr txBox="1"/>
          <p:nvPr/>
        </p:nvSpPr>
        <p:spPr>
          <a:xfrm>
            <a:off x="5038637" y="2959714"/>
            <a:ext cx="1482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III </a:t>
            </a:r>
            <a:r>
              <a:rPr lang="ru-RU" sz="3600" dirty="0">
                <a:solidFill>
                  <a:schemeClr val="bg2"/>
                </a:solidFill>
              </a:rPr>
              <a:t>этап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6A4802-354D-4E30-A70E-2E0867306A6B}"/>
              </a:ext>
            </a:extLst>
          </p:cNvPr>
          <p:cNvSpPr txBox="1"/>
          <p:nvPr/>
        </p:nvSpPr>
        <p:spPr>
          <a:xfrm>
            <a:off x="3411762" y="2959715"/>
            <a:ext cx="1365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II </a:t>
            </a:r>
            <a:r>
              <a:rPr lang="ru-RU" sz="3600" dirty="0">
                <a:solidFill>
                  <a:schemeClr val="bg2"/>
                </a:solidFill>
              </a:rPr>
              <a:t>этап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B68477-9A1C-4631-AB71-AF54F11DABFD}"/>
              </a:ext>
            </a:extLst>
          </p:cNvPr>
          <p:cNvSpPr txBox="1"/>
          <p:nvPr/>
        </p:nvSpPr>
        <p:spPr>
          <a:xfrm>
            <a:off x="1773621" y="2959717"/>
            <a:ext cx="1248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I </a:t>
            </a:r>
            <a:r>
              <a:rPr lang="ru-RU" sz="3600" dirty="0">
                <a:solidFill>
                  <a:schemeClr val="bg2"/>
                </a:solidFill>
              </a:rPr>
              <a:t>этап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2E0A16A9-138B-45FC-80A2-76C1B73C2294}"/>
              </a:ext>
            </a:extLst>
          </p:cNvPr>
          <p:cNvSpPr/>
          <p:nvPr/>
        </p:nvSpPr>
        <p:spPr>
          <a:xfrm>
            <a:off x="2157298" y="4098034"/>
            <a:ext cx="481514" cy="455966"/>
          </a:xfrm>
          <a:prstGeom prst="roundRect">
            <a:avLst>
              <a:gd name="adj" fmla="val 157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AA0421E0-93B2-4F81-9128-BA728844BD48}"/>
              </a:ext>
            </a:extLst>
          </p:cNvPr>
          <p:cNvSpPr/>
          <p:nvPr/>
        </p:nvSpPr>
        <p:spPr>
          <a:xfrm>
            <a:off x="3836099" y="4098034"/>
            <a:ext cx="488110" cy="455966"/>
          </a:xfrm>
          <a:prstGeom prst="roundRect">
            <a:avLst>
              <a:gd name="adj" fmla="val 1891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0F5B768-F24E-48F9-BF47-91F79A8A22E5}"/>
              </a:ext>
            </a:extLst>
          </p:cNvPr>
          <p:cNvSpPr/>
          <p:nvPr/>
        </p:nvSpPr>
        <p:spPr>
          <a:xfrm>
            <a:off x="5529885" y="4094850"/>
            <a:ext cx="483280" cy="455966"/>
          </a:xfrm>
          <a:prstGeom prst="roundRect">
            <a:avLst>
              <a:gd name="adj" fmla="val 1701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9C41BB8-404E-4311-B307-8E6957CA6CAF}"/>
              </a:ext>
            </a:extLst>
          </p:cNvPr>
          <p:cNvSpPr/>
          <p:nvPr/>
        </p:nvSpPr>
        <p:spPr>
          <a:xfrm>
            <a:off x="7221343" y="4094851"/>
            <a:ext cx="481514" cy="455966"/>
          </a:xfrm>
          <a:prstGeom prst="roundRect">
            <a:avLst>
              <a:gd name="adj" fmla="val 1818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DCD1812-C871-4BD1-A197-D87B9B5820AA}"/>
              </a:ext>
            </a:extLst>
          </p:cNvPr>
          <p:cNvSpPr/>
          <p:nvPr/>
        </p:nvSpPr>
        <p:spPr>
          <a:xfrm>
            <a:off x="8902233" y="4094850"/>
            <a:ext cx="481514" cy="455966"/>
          </a:xfrm>
          <a:prstGeom prst="roundRect">
            <a:avLst>
              <a:gd name="adj" fmla="val 16645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001D4B-7744-4E9E-BC5B-5A740F69572F}"/>
              </a:ext>
            </a:extLst>
          </p:cNvPr>
          <p:cNvSpPr/>
          <p:nvPr/>
        </p:nvSpPr>
        <p:spPr>
          <a:xfrm>
            <a:off x="1585803" y="4775467"/>
            <a:ext cx="16245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tx2"/>
                </a:solidFill>
              </a:rPr>
              <a:t>Античная психология </a:t>
            </a:r>
            <a:endParaRPr lang="ru-RU" sz="1600" dirty="0">
              <a:solidFill>
                <a:schemeClr val="tx2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E738C91-0FFF-4C01-84DB-43CCC6A79D47}"/>
              </a:ext>
            </a:extLst>
          </p:cNvPr>
          <p:cNvSpPr/>
          <p:nvPr/>
        </p:nvSpPr>
        <p:spPr>
          <a:xfrm>
            <a:off x="3280798" y="4778909"/>
            <a:ext cx="16245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tx2"/>
                </a:solidFill>
              </a:rPr>
              <a:t>Средневековье и эпоха Возрождения</a:t>
            </a:r>
            <a:endParaRPr lang="ru-RU" sz="1600" dirty="0">
              <a:solidFill>
                <a:schemeClr val="tx2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2B017D2-DD05-4C04-AAE8-C00D46138F46}"/>
              </a:ext>
            </a:extLst>
          </p:cNvPr>
          <p:cNvSpPr/>
          <p:nvPr/>
        </p:nvSpPr>
        <p:spPr>
          <a:xfrm>
            <a:off x="4959273" y="4775467"/>
            <a:ext cx="16245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tx2"/>
                </a:solidFill>
              </a:rPr>
              <a:t>Новое время </a:t>
            </a:r>
            <a:endParaRPr lang="ru-RU" sz="1600" dirty="0">
              <a:solidFill>
                <a:schemeClr val="tx2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441A7D3-7964-4A03-A946-334D00629139}"/>
              </a:ext>
            </a:extLst>
          </p:cNvPr>
          <p:cNvSpPr/>
          <p:nvPr/>
        </p:nvSpPr>
        <p:spPr>
          <a:xfrm>
            <a:off x="6654268" y="4775467"/>
            <a:ext cx="16245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tx2"/>
                </a:solidFill>
              </a:rPr>
              <a:t>XX век — формирование основных школ и кризис психологии</a:t>
            </a:r>
            <a:endParaRPr lang="ru-RU" sz="1600" dirty="0">
              <a:solidFill>
                <a:schemeClr val="tx2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BA29522-6DA2-4C94-998F-1CD0B72C4D76}"/>
              </a:ext>
            </a:extLst>
          </p:cNvPr>
          <p:cNvSpPr/>
          <p:nvPr/>
        </p:nvSpPr>
        <p:spPr>
          <a:xfrm>
            <a:off x="8330738" y="4775467"/>
            <a:ext cx="16245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tx2"/>
                </a:solidFill>
              </a:rPr>
              <a:t>Современная психология </a:t>
            </a:r>
            <a:endParaRPr lang="ru-RU" sz="1600" dirty="0">
              <a:solidFill>
                <a:schemeClr val="tx2"/>
              </a:solidFill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F51D321-C115-4CD0-ADE8-3BF5F430838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224307" y="4138956"/>
            <a:ext cx="360000" cy="3600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D0EAC36-D4EE-4708-9DF9-E3833D12C9F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900154" y="4138408"/>
            <a:ext cx="360000" cy="360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723C090-9F7E-4F0A-A3CF-C8490CE9969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/>
          <a:stretch/>
        </p:blipFill>
        <p:spPr>
          <a:xfrm>
            <a:off x="5600090" y="4137784"/>
            <a:ext cx="360000" cy="3600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6FF53AA-8FA2-4363-AF5D-D8A03899A76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rcRect/>
          <a:stretch/>
        </p:blipFill>
        <p:spPr>
          <a:xfrm>
            <a:off x="7279961" y="4137784"/>
            <a:ext cx="360000" cy="3600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1BA2ED8-45A9-441E-B8F1-86714B82DA10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966850" y="4151781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6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6000" y="365125"/>
            <a:ext cx="10207799" cy="1325563"/>
          </a:xfrm>
        </p:spPr>
        <p:txBody>
          <a:bodyPr/>
          <a:lstStyle/>
          <a:p>
            <a:r>
              <a:rPr lang="ru-RU" dirty="0"/>
              <a:t>I этап: Античная психология (VI в. до н. э. – V в. н. э.)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8200" y="2033588"/>
            <a:ext cx="10444163" cy="432041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Милетская школа </a:t>
            </a:r>
            <a:r>
              <a:rPr lang="ru-RU" dirty="0"/>
              <a:t>(Фалес, Анаксимен): душа — это </a:t>
            </a:r>
            <a:r>
              <a:rPr lang="ru-RU" dirty="0" smtClean="0"/>
              <a:t>особое </a:t>
            </a:r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состояние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первоэлемента (вода, воздух), </a:t>
            </a:r>
            <a:r>
              <a:rPr lang="ru-RU" dirty="0"/>
              <a:t>дающее движение.</a:t>
            </a:r>
          </a:p>
          <a:p>
            <a:pPr>
              <a:lnSpc>
                <a:spcPct val="120000"/>
              </a:lnSpc>
            </a:pPr>
            <a:r>
              <a:rPr lang="ru-RU" dirty="0"/>
              <a:t>· </a:t>
            </a:r>
            <a:r>
              <a:rPr lang="ru-RU" dirty="0" err="1">
                <a:solidFill>
                  <a:schemeClr val="accent6">
                    <a:lumMod val="75000"/>
                  </a:schemeClr>
                </a:solidFill>
              </a:rPr>
              <a:t>Демокрит</a:t>
            </a:r>
            <a:r>
              <a:rPr lang="ru-RU" dirty="0"/>
              <a:t>: душа состоит из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огненных атомов</a:t>
            </a:r>
            <a:r>
              <a:rPr lang="ru-RU" dirty="0"/>
              <a:t>, она </a:t>
            </a:r>
            <a:r>
              <a:rPr lang="ru-RU" dirty="0" smtClean="0"/>
              <a:t>смертна, рассеивается </a:t>
            </a:r>
            <a:r>
              <a:rPr lang="ru-RU" dirty="0"/>
              <a:t>после смерти. Познание через истечение </a:t>
            </a:r>
            <a:r>
              <a:rPr lang="ru-RU" dirty="0" smtClean="0"/>
              <a:t>образов.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Платон</a:t>
            </a:r>
            <a:r>
              <a:rPr lang="ru-RU" dirty="0"/>
              <a:t>: душа — идеальна, бессмертна, существует до </a:t>
            </a:r>
            <a:r>
              <a:rPr lang="ru-RU" dirty="0" smtClean="0"/>
              <a:t>тела, переселяется</a:t>
            </a:r>
            <a:r>
              <a:rPr lang="ru-RU" dirty="0"/>
              <a:t>. Состоит из трёх частей: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разумная (в голове), волевая (</a:t>
            </a:r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в груди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), вожделеющая (в животе)</a:t>
            </a:r>
            <a:r>
              <a:rPr lang="ru-RU" dirty="0"/>
              <a:t>. Конфликт частей — </a:t>
            </a:r>
            <a:r>
              <a:rPr lang="ru-RU" dirty="0" smtClean="0"/>
              <a:t>основа внутренней </a:t>
            </a:r>
            <a:r>
              <a:rPr lang="ru-RU" dirty="0"/>
              <a:t>жизни.</a:t>
            </a:r>
          </a:p>
          <a:p>
            <a:pPr>
              <a:lnSpc>
                <a:spcPct val="120000"/>
              </a:lnSpc>
            </a:pPr>
            <a:r>
              <a:rPr lang="ru-RU" dirty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Аристотель</a:t>
            </a:r>
            <a:r>
              <a:rPr lang="ru-RU" dirty="0"/>
              <a:t>: трактат «О душе». Душа —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форма живого тела</a:t>
            </a:r>
            <a:r>
              <a:rPr lang="ru-RU" dirty="0"/>
              <a:t>, </a:t>
            </a:r>
            <a:r>
              <a:rPr lang="ru-RU" dirty="0" smtClean="0"/>
              <a:t>его энтелехия </a:t>
            </a:r>
            <a:r>
              <a:rPr lang="ru-RU" dirty="0"/>
              <a:t>(осуществление). Выделил три вида души: </a:t>
            </a:r>
            <a:r>
              <a:rPr lang="ru-RU" dirty="0" smtClean="0"/>
              <a:t>растительная, животная </a:t>
            </a:r>
            <a:r>
              <a:rPr lang="ru-RU" dirty="0"/>
              <a:t>и разумная (присуща только человеку). Заложил </a:t>
            </a:r>
            <a:r>
              <a:rPr lang="ru-RU" dirty="0" smtClean="0"/>
              <a:t>основы эмпирического </a:t>
            </a:r>
            <a:r>
              <a:rPr lang="ru-RU" dirty="0"/>
              <a:t>подхода.</a:t>
            </a:r>
          </a:p>
        </p:txBody>
      </p:sp>
    </p:spTree>
    <p:extLst>
      <p:ext uri="{BB962C8B-B14F-4D97-AF65-F5344CB8AC3E}">
        <p14:creationId xmlns:p14="http://schemas.microsoft.com/office/powerpoint/2010/main" val="223621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/>
              <a:t>II этап: Средневековье и эпоха Возрождения (V–XVI вв.)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8200" y="2033588"/>
            <a:ext cx="10444163" cy="4049712"/>
          </a:xfrm>
        </p:spPr>
        <p:txBody>
          <a:bodyPr>
            <a:normAutofit fontScale="92500"/>
          </a:bodyPr>
          <a:lstStyle/>
          <a:p>
            <a:r>
              <a:rPr lang="ru-RU" dirty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Господство теологии</a:t>
            </a:r>
            <a:r>
              <a:rPr lang="ru-RU" dirty="0"/>
              <a:t>. Душа — божественное начало, изучается</a:t>
            </a:r>
          </a:p>
          <a:p>
            <a:r>
              <a:rPr lang="ru-RU" dirty="0"/>
              <a:t>только в контексте веры. Августин Блаженный: учение о</a:t>
            </a:r>
          </a:p>
          <a:p>
            <a:r>
              <a:rPr lang="ru-RU" dirty="0"/>
              <a:t>самонаблюдении и внутреннем опыте как пути к истине. Фома</a:t>
            </a:r>
          </a:p>
          <a:p>
            <a:r>
              <a:rPr lang="ru-RU" dirty="0"/>
              <a:t>Аквинский: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разграничил теологию и психологию</a:t>
            </a:r>
            <a:r>
              <a:rPr lang="ru-RU" dirty="0"/>
              <a:t>, но оставил</a:t>
            </a:r>
          </a:p>
          <a:p>
            <a:r>
              <a:rPr lang="ru-RU" dirty="0"/>
              <a:t>последнюю в подчинении первой.</a:t>
            </a:r>
          </a:p>
          <a:p>
            <a:r>
              <a:rPr lang="ru-RU" dirty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Арабская психология </a:t>
            </a:r>
            <a:r>
              <a:rPr lang="ru-RU" dirty="0"/>
              <a:t>(Авиценна, Аверроэс): сохранили и развили</a:t>
            </a:r>
          </a:p>
          <a:p>
            <a:r>
              <a:rPr lang="ru-RU" dirty="0"/>
              <a:t>античное наследие, изучали связь психики с телом, влияние чувств на</a:t>
            </a:r>
          </a:p>
          <a:p>
            <a:r>
              <a:rPr lang="ru-RU" dirty="0"/>
              <a:t>здоровье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193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III этап: Новое время (XVII–XIX вв.) — психология сознания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8200" y="2033588"/>
            <a:ext cx="10444163" cy="5085412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Р. Декарт</a:t>
            </a:r>
            <a:r>
              <a:rPr lang="ru-RU" dirty="0"/>
              <a:t>: ввёл понятие рефлекса (автоматический ответ организма). Разделил тело (протяжённая субстанция) и душу (мыслящая субстанция) — дуализм. Сознание открывается человеку непосредственно в самонаблюдении.</a:t>
            </a:r>
          </a:p>
          <a:p>
            <a:r>
              <a:rPr lang="ru-RU" dirty="0"/>
              <a:t>  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Б. Спиноза</a:t>
            </a:r>
            <a:r>
              <a:rPr lang="ru-RU" dirty="0"/>
              <a:t>: монизм — природа едина, мышление и протяжение — атрибуты одной субстанции. Учение об аффектах.</a:t>
            </a:r>
          </a:p>
          <a:p>
            <a:r>
              <a:rPr lang="ru-RU" dirty="0"/>
              <a:t>  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Г. Лейбниц</a:t>
            </a:r>
            <a:r>
              <a:rPr lang="ru-RU" dirty="0"/>
              <a:t>: ввёл понятие «малых перцепций» (бессознательных восприятий). Душа — монада, имеющая собственную активность.</a:t>
            </a:r>
          </a:p>
          <a:p>
            <a:r>
              <a:rPr lang="ru-RU" dirty="0"/>
              <a:t>  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Дж. Локк</a:t>
            </a:r>
            <a:r>
              <a:rPr lang="ru-RU" dirty="0"/>
              <a:t>: основа эмпирической психологии. Опыт — единственный источник идей. Два вида опыта: внешний (ощущения) и внутренний (рефлексия). Закон ассоциации идей.</a:t>
            </a:r>
          </a:p>
          <a:p>
            <a:r>
              <a:rPr lang="ru-RU" dirty="0"/>
              <a:t>  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XVIII–XIX вв</a:t>
            </a:r>
            <a:r>
              <a:rPr lang="ru-RU" dirty="0"/>
              <a:t>.: развитие ассоцианизма (Д. </a:t>
            </a:r>
            <a:r>
              <a:rPr lang="ru-RU" dirty="0" err="1"/>
              <a:t>Гартли</a:t>
            </a:r>
            <a:r>
              <a:rPr lang="ru-RU" dirty="0"/>
              <a:t>, Дж. Ст. Милль). Психика строится из ассоциаций по смежности, сходству, контрасту.</a:t>
            </a:r>
          </a:p>
          <a:p>
            <a:r>
              <a:rPr lang="ru-RU" dirty="0"/>
              <a:t>  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Физиологический прорыв</a:t>
            </a:r>
            <a:r>
              <a:rPr lang="ru-RU" dirty="0"/>
              <a:t>: работы Ч. Белла, Ф. </a:t>
            </a:r>
            <a:r>
              <a:rPr lang="ru-RU" dirty="0" err="1"/>
              <a:t>Мажанди</a:t>
            </a:r>
            <a:r>
              <a:rPr lang="ru-RU" dirty="0"/>
              <a:t> (рефлекторная дуга), Г. Гельмгольца (скорость проведения нервного импульса, теория цветового зрения), Э. Вебера (психофизика), Г. </a:t>
            </a:r>
            <a:r>
              <a:rPr lang="ru-RU" dirty="0" err="1"/>
              <a:t>Фехнера</a:t>
            </a:r>
            <a:r>
              <a:rPr lang="ru-RU" dirty="0"/>
              <a:t> (закон Вебера-</a:t>
            </a:r>
            <a:r>
              <a:rPr lang="ru-RU" dirty="0" err="1"/>
              <a:t>Фехнера</a:t>
            </a:r>
            <a:r>
              <a:rPr lang="ru-RU" dirty="0"/>
              <a:t>).</a:t>
            </a:r>
          </a:p>
          <a:p>
            <a:r>
              <a:rPr lang="ru-RU" dirty="0"/>
              <a:t>  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Рождение научной психологии: </a:t>
            </a:r>
            <a:r>
              <a:rPr lang="ru-RU" dirty="0"/>
              <a:t>1879 г. —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В. Вундт </a:t>
            </a:r>
            <a:r>
              <a:rPr lang="ru-RU" dirty="0"/>
              <a:t>открыл в Лейпциге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первую лабораторию экспериментальной психологии.</a:t>
            </a:r>
            <a:r>
              <a:rPr lang="ru-RU" dirty="0"/>
              <a:t> Изучал «непосредственный опыт» методом интроспекции, создал структурную психологию. В США развивается функционализм (У. Джеймс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384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IV </a:t>
            </a:r>
            <a:r>
              <a:rPr lang="ru-RU" dirty="0"/>
              <a:t>этап: XX век — формирование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основных школ и кризис</a:t>
            </a:r>
            <a:r>
              <a:rPr lang="ru-RU" dirty="0"/>
              <a:t> </a:t>
            </a:r>
            <a:r>
              <a:rPr lang="ru-RU" dirty="0" smtClean="0"/>
              <a:t>психологии.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 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Возникновение альтернативных направлений </a:t>
            </a:r>
            <a:r>
              <a:rPr lang="ru-RU" dirty="0"/>
              <a:t>(см. п. 3). Кризис открытого кризиса (1920–1930-е гг.) привёл к многообразию парадигм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  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Развитие отечественной психологии </a:t>
            </a:r>
            <a:r>
              <a:rPr lang="ru-RU" dirty="0"/>
              <a:t>(Л.С. Выготский, А.Н. Леонтьев, С.Л. Рубинштейн, А.Р. </a:t>
            </a:r>
            <a:r>
              <a:rPr lang="ru-RU" dirty="0" err="1"/>
              <a:t>Лурия</a:t>
            </a:r>
            <a:r>
              <a:rPr lang="ru-RU" dirty="0"/>
              <a:t>) — культурно-историческая теория, </a:t>
            </a:r>
            <a:r>
              <a:rPr lang="ru-RU" dirty="0" err="1"/>
              <a:t>деятельностный</a:t>
            </a:r>
            <a:r>
              <a:rPr lang="ru-RU" dirty="0"/>
              <a:t> подход, нейропсихология.</a:t>
            </a:r>
          </a:p>
        </p:txBody>
      </p:sp>
    </p:spTree>
    <p:extLst>
      <p:ext uri="{BB962C8B-B14F-4D97-AF65-F5344CB8AC3E}">
        <p14:creationId xmlns:p14="http://schemas.microsoft.com/office/powerpoint/2010/main" val="234593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V этап: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Современная психология </a:t>
            </a:r>
            <a:r>
              <a:rPr lang="ru-RU" dirty="0"/>
              <a:t>(конец XX – XXI вв.)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 · Интеграция различных подходов, развитие когнитивной психологии, </a:t>
            </a:r>
            <a:r>
              <a:rPr lang="ru-RU" dirty="0" err="1"/>
              <a:t>нейронаук</a:t>
            </a:r>
            <a:r>
              <a:rPr lang="ru-RU" dirty="0"/>
              <a:t>, эволюционной психологии, позитивной психологии, </a:t>
            </a:r>
            <a:r>
              <a:rPr lang="ru-RU" dirty="0" err="1"/>
              <a:t>психогенетики</a:t>
            </a:r>
            <a:r>
              <a:rPr lang="ru-RU" dirty="0"/>
              <a:t>. Активное применение математического моделирования и компьютерных технологий.</a:t>
            </a:r>
          </a:p>
        </p:txBody>
      </p:sp>
    </p:spTree>
    <p:extLst>
      <p:ext uri="{BB962C8B-B14F-4D97-AF65-F5344CB8AC3E}">
        <p14:creationId xmlns:p14="http://schemas.microsoft.com/office/powerpoint/2010/main" val="264358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396046"/>
            <a:ext cx="8820000" cy="139926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 Основные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направления</a:t>
            </a:r>
            <a:r>
              <a:rPr lang="ru-RU" b="1" dirty="0">
                <a:solidFill>
                  <a:schemeClr val="accent1"/>
                </a:solidFill>
              </a:rPr>
              <a:t> психологии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4807253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0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516000" y="819000"/>
            <a:ext cx="10444163" cy="52643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· Психоанализ (глубинная психология</a:t>
            </a:r>
            <a:r>
              <a:rPr lang="ru-RU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ru-RU" dirty="0"/>
              <a:t>· Бихевиоризм и </a:t>
            </a:r>
            <a:r>
              <a:rPr lang="ru-RU" dirty="0" err="1"/>
              <a:t>необихевиоризм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· Гуманистическая психология</a:t>
            </a:r>
          </a:p>
          <a:p>
            <a:pPr>
              <a:lnSpc>
                <a:spcPct val="150000"/>
              </a:lnSpc>
            </a:pPr>
            <a:r>
              <a:rPr lang="ru-RU" dirty="0"/>
              <a:t>· Когнитивная психология</a:t>
            </a:r>
          </a:p>
          <a:p>
            <a:pPr>
              <a:lnSpc>
                <a:spcPct val="150000"/>
              </a:lnSpc>
            </a:pPr>
            <a:r>
              <a:rPr lang="ru-RU" dirty="0"/>
              <a:t>· </a:t>
            </a:r>
            <a:r>
              <a:rPr lang="ru-RU" dirty="0" err="1"/>
              <a:t>Трансперсональная</a:t>
            </a:r>
            <a:r>
              <a:rPr lang="ru-RU" dirty="0"/>
              <a:t> </a:t>
            </a:r>
            <a:r>
              <a:rPr lang="ru-RU" dirty="0" smtClean="0"/>
              <a:t>психология</a:t>
            </a:r>
          </a:p>
          <a:p>
            <a:pPr>
              <a:lnSpc>
                <a:spcPct val="150000"/>
              </a:lnSpc>
            </a:pPr>
            <a:r>
              <a:rPr lang="ru-RU" dirty="0"/>
              <a:t>· Позитивная </a:t>
            </a:r>
            <a:r>
              <a:rPr lang="ru-RU" dirty="0" smtClean="0"/>
              <a:t>психология</a:t>
            </a:r>
          </a:p>
          <a:p>
            <a:pPr>
              <a:lnSpc>
                <a:spcPct val="150000"/>
              </a:lnSpc>
            </a:pPr>
            <a:r>
              <a:rPr lang="ru-RU" dirty="0"/>
              <a:t>· Эволюционная психология</a:t>
            </a: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1854000"/>
            <a:ext cx="6124575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81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396046"/>
            <a:ext cx="8820000" cy="139926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 Основные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понятия </a:t>
            </a:r>
            <a:r>
              <a:rPr lang="ru-RU" b="1" dirty="0">
                <a:solidFill>
                  <a:schemeClr val="accent1"/>
                </a:solidFill>
              </a:rPr>
              <a:t>психологии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4807253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82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516000" y="369000"/>
            <a:ext cx="11430000" cy="6471920"/>
          </a:xfrm>
        </p:spPr>
        <p:txBody>
          <a:bodyPr>
            <a:noAutofit/>
          </a:bodyPr>
          <a:lstStyle/>
          <a:p>
            <a:r>
              <a:rPr lang="ru-RU" sz="1750" dirty="0">
                <a:solidFill>
                  <a:schemeClr val="accent6">
                    <a:lumMod val="75000"/>
                  </a:schemeClr>
                </a:solidFill>
              </a:rPr>
              <a:t>· Психика </a:t>
            </a:r>
            <a:r>
              <a:rPr lang="ru-RU" sz="1750" dirty="0"/>
              <a:t>— системное свойство высокоорганизованной материи (головного мозга), заключающееся в активном отражении субъектом объективного мира, построении неотчуждаемой от него картины мира и регуляции на этой основе поведения и деятельности. Функции психики: отражение, регуляция, обеспечение целостности организма, адаптация, коммуникация.</a:t>
            </a:r>
          </a:p>
          <a:p>
            <a:r>
              <a:rPr lang="ru-RU" sz="1750" dirty="0">
                <a:solidFill>
                  <a:schemeClr val="accent6">
                    <a:lumMod val="75000"/>
                  </a:schemeClr>
                </a:solidFill>
              </a:rPr>
              <a:t>· Сознание </a:t>
            </a:r>
            <a:r>
              <a:rPr lang="ru-RU" sz="1750" dirty="0"/>
              <a:t>— высший уровень психического отражения, присущий только человеку. </a:t>
            </a:r>
            <a:endParaRPr lang="ru-RU" sz="1750" dirty="0" smtClean="0"/>
          </a:p>
          <a:p>
            <a:r>
              <a:rPr lang="ru-RU" sz="1750" dirty="0" smtClean="0">
                <a:solidFill>
                  <a:schemeClr val="accent6">
                    <a:lumMod val="75000"/>
                  </a:schemeClr>
                </a:solidFill>
              </a:rPr>
              <a:t>· </a:t>
            </a:r>
            <a:r>
              <a:rPr lang="ru-RU" sz="1750" dirty="0">
                <a:solidFill>
                  <a:schemeClr val="accent6">
                    <a:lumMod val="75000"/>
                  </a:schemeClr>
                </a:solidFill>
              </a:rPr>
              <a:t>Бессознательное </a:t>
            </a:r>
            <a:r>
              <a:rPr lang="ru-RU" sz="1750" dirty="0"/>
              <a:t>— совокупность психических явлений, не осознаваемых субъектом в данный момент, но оказывающих влияние на его поведение. </a:t>
            </a:r>
            <a:endParaRPr lang="ru-RU" sz="1750" dirty="0" smtClean="0"/>
          </a:p>
          <a:p>
            <a:r>
              <a:rPr lang="ru-RU" sz="1750" dirty="0" smtClean="0">
                <a:solidFill>
                  <a:schemeClr val="accent6">
                    <a:lumMod val="75000"/>
                  </a:schemeClr>
                </a:solidFill>
              </a:rPr>
              <a:t>· </a:t>
            </a:r>
            <a:r>
              <a:rPr lang="ru-RU" sz="1750" dirty="0">
                <a:solidFill>
                  <a:schemeClr val="accent6">
                    <a:lumMod val="75000"/>
                  </a:schemeClr>
                </a:solidFill>
              </a:rPr>
              <a:t>Личность </a:t>
            </a:r>
            <a:r>
              <a:rPr lang="ru-RU" sz="1750" dirty="0"/>
              <a:t>— социальное качество индивида, приобретаемое в совместной деятельности и общении. Это устойчивая система социально значимых черт, характеризующих индивида как члена общества. </a:t>
            </a:r>
            <a:endParaRPr lang="ru-RU" sz="1750" dirty="0" smtClean="0"/>
          </a:p>
          <a:p>
            <a:r>
              <a:rPr lang="ru-RU" sz="1750" dirty="0" smtClean="0">
                <a:solidFill>
                  <a:schemeClr val="accent6">
                    <a:lumMod val="75000"/>
                  </a:schemeClr>
                </a:solidFill>
              </a:rPr>
              <a:t>· </a:t>
            </a:r>
            <a:r>
              <a:rPr lang="ru-RU" sz="1750" dirty="0">
                <a:solidFill>
                  <a:schemeClr val="accent6">
                    <a:lumMod val="75000"/>
                  </a:schemeClr>
                </a:solidFill>
              </a:rPr>
              <a:t>Индивид </a:t>
            </a:r>
            <a:r>
              <a:rPr lang="ru-RU" sz="1750" dirty="0"/>
              <a:t>— единичный представитель человеческого рода, биологический организм, носитель общих наследственных свойств. Понятие подчёркивает принадлежность к </a:t>
            </a:r>
            <a:r>
              <a:rPr lang="ru-RU" sz="1750" dirty="0" err="1"/>
              <a:t>Homo</a:t>
            </a:r>
            <a:r>
              <a:rPr lang="ru-RU" sz="1750" dirty="0"/>
              <a:t> </a:t>
            </a:r>
            <a:r>
              <a:rPr lang="ru-RU" sz="1750" dirty="0" err="1"/>
              <a:t>sapiens</a:t>
            </a:r>
            <a:r>
              <a:rPr lang="ru-RU" sz="1750" dirty="0"/>
              <a:t>.</a:t>
            </a:r>
          </a:p>
          <a:p>
            <a:r>
              <a:rPr lang="ru-RU" sz="1750" dirty="0">
                <a:solidFill>
                  <a:schemeClr val="accent6">
                    <a:lumMod val="75000"/>
                  </a:schemeClr>
                </a:solidFill>
              </a:rPr>
              <a:t>· Индивидуальность </a:t>
            </a:r>
            <a:r>
              <a:rPr lang="ru-RU" sz="1750" dirty="0"/>
              <a:t>— неповторимое своеобразие психики каждого человека, осуществляющего свою жизнедеятельность. Проявляется в темпераменте, характере, способностях, стиле деятельности, интересах.</a:t>
            </a:r>
          </a:p>
          <a:p>
            <a:r>
              <a:rPr lang="ru-RU" sz="1750" dirty="0">
                <a:solidFill>
                  <a:schemeClr val="accent6">
                    <a:lumMod val="75000"/>
                  </a:schemeClr>
                </a:solidFill>
              </a:rPr>
              <a:t>· Субъект </a:t>
            </a:r>
            <a:r>
              <a:rPr lang="ru-RU" sz="1750" dirty="0"/>
              <a:t>— индивид как источник активности, преобразующий действительность. Понятие введено С.Л. Рубинштейном. </a:t>
            </a:r>
            <a:r>
              <a:rPr lang="ru-RU" sz="1750" dirty="0" err="1"/>
              <a:t>Субъектность</a:t>
            </a:r>
            <a:r>
              <a:rPr lang="ru-RU" sz="1750" dirty="0"/>
              <a:t> означает способность к инициативе, самостоятельности, ответственности.</a:t>
            </a:r>
          </a:p>
          <a:p>
            <a:r>
              <a:rPr lang="ru-RU" sz="1750" dirty="0">
                <a:solidFill>
                  <a:schemeClr val="accent6">
                    <a:lumMod val="75000"/>
                  </a:schemeClr>
                </a:solidFill>
              </a:rPr>
              <a:t>· Деятельность </a:t>
            </a:r>
            <a:r>
              <a:rPr lang="ru-RU" sz="1750" dirty="0"/>
              <a:t>— динамическая система взаимодействия субъекта с миром, в процессе которой происходит возникновение и воплощение психического образа и реализация отношений субъекта в предметной действительности. </a:t>
            </a:r>
            <a:endParaRPr lang="ru-RU" sz="1750" dirty="0" smtClean="0"/>
          </a:p>
          <a:p>
            <a:r>
              <a:rPr lang="ru-RU" sz="1750" dirty="0" smtClean="0">
                <a:solidFill>
                  <a:schemeClr val="accent6">
                    <a:lumMod val="75000"/>
                  </a:schemeClr>
                </a:solidFill>
              </a:rPr>
              <a:t>· </a:t>
            </a:r>
            <a:r>
              <a:rPr lang="ru-RU" sz="1750" dirty="0">
                <a:solidFill>
                  <a:schemeClr val="accent6">
                    <a:lumMod val="75000"/>
                  </a:schemeClr>
                </a:solidFill>
              </a:rPr>
              <a:t>Общение </a:t>
            </a:r>
            <a:r>
              <a:rPr lang="ru-RU" sz="1750" dirty="0"/>
              <a:t>— сложный многоплановый процесс установления и развития контактов между людьми, порождаемый потребностями совместной деятельности. Включает три компонента: коммуникативный (обмен информацией), интерактивный (обмен действиями) и перцептивный (восприятие и понимание партнёра).</a:t>
            </a:r>
          </a:p>
        </p:txBody>
      </p:sp>
    </p:spTree>
    <p:extLst>
      <p:ext uri="{BB962C8B-B14F-4D97-AF65-F5344CB8AC3E}">
        <p14:creationId xmlns:p14="http://schemas.microsoft.com/office/powerpoint/2010/main" val="268569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396046"/>
            <a:ext cx="8820000" cy="139926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 Психологические процессы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4807253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25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I. Познавательные процессы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8200" y="1690688"/>
            <a:ext cx="10444163" cy="470831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Ощущение</a:t>
            </a:r>
            <a:r>
              <a:rPr lang="ru-RU" dirty="0" smtClean="0"/>
              <a:t> </a:t>
            </a:r>
            <a:r>
              <a:rPr lang="ru-RU" dirty="0"/>
              <a:t>— отражение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отдельных свойств </a:t>
            </a:r>
            <a:r>
              <a:rPr lang="ru-RU" dirty="0"/>
              <a:t>предметов при непосредственном воздействии на органы чувств</a:t>
            </a:r>
            <a:r>
              <a:rPr lang="ru-RU" dirty="0" smtClean="0"/>
              <a:t>.</a:t>
            </a:r>
            <a:endParaRPr lang="ru-RU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Восприятие (перцепция) </a:t>
            </a:r>
            <a:r>
              <a:rPr lang="ru-RU" dirty="0"/>
              <a:t>— целостное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отражение предметов и явлений </a:t>
            </a:r>
            <a:r>
              <a:rPr lang="ru-RU" dirty="0"/>
              <a:t>при их непосредственном воздействии на органы чувств.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Внимание</a:t>
            </a:r>
            <a:r>
              <a:rPr lang="ru-RU" dirty="0"/>
              <a:t> — направленность и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сосредоточенность</a:t>
            </a:r>
            <a:r>
              <a:rPr lang="ru-RU" dirty="0"/>
              <a:t> психической деятельности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на определённом объекте.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Память </a:t>
            </a:r>
            <a:r>
              <a:rPr lang="ru-RU" dirty="0"/>
              <a:t>— запоминание, сохранение и последующее воспроизведение индивидом его опыта.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Мышление</a:t>
            </a:r>
            <a:r>
              <a:rPr lang="ru-RU" dirty="0"/>
              <a:t> — высший познавательный процесс, опосредованное и обобщённое отражение действительности в её существенных связях и отношениях.</a:t>
            </a:r>
          </a:p>
          <a:p>
            <a:pPr marL="514350" indent="-514350">
              <a:buAutoNum type="arabicPeriod"/>
            </a:pP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Воображение</a:t>
            </a:r>
            <a:r>
              <a:rPr lang="ru-RU" dirty="0"/>
              <a:t> — создание новых образов на основе переработки прошлых восприятий</a:t>
            </a:r>
            <a:r>
              <a:rPr lang="ru-RU" dirty="0" smtClean="0"/>
              <a:t>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Речь</a:t>
            </a:r>
            <a:r>
              <a:rPr lang="ru-RU" dirty="0"/>
              <a:t> — процесс использования языка в целях общения и мышления.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49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II. Эмоционально-волевые процессы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1. Эмоции и чувства </a:t>
            </a:r>
            <a:r>
              <a:rPr lang="ru-RU" dirty="0"/>
              <a:t>— переживание человеком своего отношения к миру, к другим, к себе.</a:t>
            </a:r>
          </a:p>
          <a:p>
            <a:r>
              <a:rPr lang="ru-RU" dirty="0"/>
              <a:t> 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· Эмоции</a:t>
            </a:r>
            <a:r>
              <a:rPr lang="ru-RU" dirty="0"/>
              <a:t>: ситуативные, кратковременные, непосредственно связаны с удовлетворением/неудовлетворением потребностей (радость, гнев, страх, удивление, печаль).</a:t>
            </a:r>
          </a:p>
          <a:p>
            <a:r>
              <a:rPr lang="ru-RU" dirty="0"/>
              <a:t> 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· Чувства</a:t>
            </a:r>
            <a:r>
              <a:rPr lang="ru-RU" dirty="0"/>
              <a:t>: устойчивые, длительные, предметные отношения (любовь, дружба, патриотизм, ненависть). Высшие чувства: моральные, эстетические, интеллектуальные</a:t>
            </a:r>
            <a:r>
              <a:rPr lang="ru-RU" dirty="0" smtClean="0"/>
              <a:t>.</a:t>
            </a:r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2. Воля </a:t>
            </a:r>
            <a:r>
              <a:rPr lang="ru-RU" dirty="0"/>
              <a:t>— способность человека к сознательной регуляции своего поведения, преодолению препятствий для достижения цели.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68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III. Мотивационные процессы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8200" y="1690688"/>
            <a:ext cx="10444163" cy="4663312"/>
          </a:xfrm>
        </p:spPr>
        <p:txBody>
          <a:bodyPr/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· Потребности </a:t>
            </a:r>
            <a:r>
              <a:rPr lang="ru-RU" dirty="0"/>
              <a:t>— состояние нужды в определённых условиях жизни и развития. Классификация (по А. </a:t>
            </a:r>
            <a:r>
              <a:rPr lang="ru-RU" dirty="0" err="1"/>
              <a:t>Маслоу</a:t>
            </a:r>
            <a:r>
              <a:rPr lang="ru-RU" dirty="0"/>
              <a:t>): физиологические, безопасности, социальные, уважения, </a:t>
            </a:r>
            <a:r>
              <a:rPr lang="ru-RU" dirty="0" err="1"/>
              <a:t>самоактуализации</a:t>
            </a:r>
            <a:r>
              <a:rPr lang="ru-RU" dirty="0"/>
              <a:t>.</a:t>
            </a:r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· Мотивы </a:t>
            </a:r>
            <a:r>
              <a:rPr lang="ru-RU" dirty="0"/>
              <a:t>— побуждения к деятельности, связанные с удовлетворением потребностей. Мотивы могут быть осознанными и неосознанными.</a:t>
            </a:r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· Цели </a:t>
            </a:r>
            <a:r>
              <a:rPr lang="ru-RU" dirty="0"/>
              <a:t>— осознанный образ предвосхищаемого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177706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396046"/>
            <a:ext cx="8820000" cy="1672954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accent1"/>
                </a:solidFill>
              </a:rPr>
              <a:t>Перспективы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развития </a:t>
            </a:r>
            <a:r>
              <a:rPr lang="ru-RU" b="1" dirty="0">
                <a:solidFill>
                  <a:schemeClr val="accent1"/>
                </a:solidFill>
              </a:rPr>
              <a:t>психологии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4807253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4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8200" y="774000"/>
            <a:ext cx="10444163" cy="53093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/>
              <a:t>· </a:t>
            </a:r>
            <a:r>
              <a:rPr lang="ru-RU" sz="3200" dirty="0" err="1"/>
              <a:t>Нейронаучный</a:t>
            </a:r>
            <a:r>
              <a:rPr lang="ru-RU" sz="3200" dirty="0"/>
              <a:t> </a:t>
            </a:r>
            <a:r>
              <a:rPr lang="ru-RU" sz="3200" dirty="0" smtClean="0"/>
              <a:t>прорыв</a:t>
            </a:r>
          </a:p>
          <a:p>
            <a:pPr>
              <a:lnSpc>
                <a:spcPct val="100000"/>
              </a:lnSpc>
            </a:pPr>
            <a:r>
              <a:rPr lang="ru-RU" sz="3200" dirty="0"/>
              <a:t>· </a:t>
            </a:r>
            <a:r>
              <a:rPr lang="ru-RU" sz="3200" dirty="0" err="1"/>
              <a:t>Психогенетика</a:t>
            </a:r>
            <a:r>
              <a:rPr lang="ru-RU" sz="3200" dirty="0"/>
              <a:t> и молекулярная </a:t>
            </a:r>
            <a:r>
              <a:rPr lang="ru-RU" sz="3200" dirty="0" smtClean="0"/>
              <a:t>психология</a:t>
            </a:r>
          </a:p>
          <a:p>
            <a:pPr>
              <a:lnSpc>
                <a:spcPct val="100000"/>
              </a:lnSpc>
            </a:pPr>
            <a:r>
              <a:rPr lang="ru-RU" sz="3200" dirty="0"/>
              <a:t>· Цифровая психология и </a:t>
            </a:r>
            <a:r>
              <a:rPr lang="ru-RU" sz="3200" dirty="0" err="1"/>
              <a:t>Big</a:t>
            </a:r>
            <a:r>
              <a:rPr lang="ru-RU" sz="3200" dirty="0"/>
              <a:t> </a:t>
            </a:r>
            <a:r>
              <a:rPr lang="ru-RU" sz="3200" dirty="0" err="1" smtClean="0"/>
              <a:t>Data</a:t>
            </a:r>
            <a:endParaRPr lang="ru-RU" sz="3200" dirty="0" smtClean="0"/>
          </a:p>
          <a:p>
            <a:pPr>
              <a:lnSpc>
                <a:spcPct val="100000"/>
              </a:lnSpc>
            </a:pPr>
            <a:r>
              <a:rPr lang="ru-RU" sz="3200" dirty="0"/>
              <a:t>· </a:t>
            </a:r>
            <a:r>
              <a:rPr lang="ru-RU" sz="3200" dirty="0" err="1" smtClean="0"/>
              <a:t>Трансдисциплинарность</a:t>
            </a:r>
            <a:endParaRPr lang="ru-RU" sz="3200" dirty="0" smtClean="0"/>
          </a:p>
          <a:p>
            <a:pPr>
              <a:lnSpc>
                <a:spcPct val="100000"/>
              </a:lnSpc>
            </a:pPr>
            <a:r>
              <a:rPr lang="ru-RU" sz="3200" dirty="0"/>
              <a:t>· Развитие прикладных </a:t>
            </a:r>
            <a:r>
              <a:rPr lang="ru-RU" sz="3200" dirty="0" smtClean="0"/>
              <a:t>отраслей</a:t>
            </a:r>
          </a:p>
          <a:p>
            <a:pPr>
              <a:lnSpc>
                <a:spcPct val="100000"/>
              </a:lnSpc>
            </a:pPr>
            <a:r>
              <a:rPr lang="ru-RU" sz="3200" dirty="0"/>
              <a:t>· Позитивная психология (дальнейшее развитие</a:t>
            </a:r>
            <a:r>
              <a:rPr lang="ru-RU" sz="3200" dirty="0" smtClean="0"/>
              <a:t>)</a:t>
            </a:r>
          </a:p>
          <a:p>
            <a:pPr>
              <a:lnSpc>
                <a:spcPct val="100000"/>
              </a:lnSpc>
            </a:pPr>
            <a:r>
              <a:rPr lang="ru-RU" sz="3200" dirty="0"/>
              <a:t>· Кросс-культурная и глобальная </a:t>
            </a:r>
            <a:r>
              <a:rPr lang="ru-RU" sz="3200" dirty="0" smtClean="0"/>
              <a:t>психология</a:t>
            </a:r>
          </a:p>
          <a:p>
            <a:pPr>
              <a:lnSpc>
                <a:spcPct val="100000"/>
              </a:lnSpc>
            </a:pPr>
            <a:r>
              <a:rPr lang="ru-RU" sz="3200" dirty="0"/>
              <a:t>· Этические </a:t>
            </a:r>
            <a:r>
              <a:rPr lang="ru-RU" sz="3200" dirty="0" smtClean="0"/>
              <a:t>вызовы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374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114916"/>
            <a:ext cx="8820000" cy="167295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Роль психологии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в обществе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4807253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2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 </a:t>
            </a:r>
            <a:r>
              <a:rPr lang="ru-RU" dirty="0"/>
              <a:t>образовании и </a:t>
            </a:r>
            <a:r>
              <a:rPr lang="ru-RU" dirty="0" smtClean="0"/>
              <a:t>воспитании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8200" y="1690688"/>
            <a:ext cx="10444163" cy="43926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000" dirty="0" smtClean="0"/>
              <a:t>· </a:t>
            </a:r>
            <a:r>
              <a:rPr lang="ru-RU" sz="3000" dirty="0">
                <a:solidFill>
                  <a:schemeClr val="accent6">
                    <a:lumMod val="75000"/>
                  </a:schemeClr>
                </a:solidFill>
              </a:rPr>
              <a:t>Разработка эффективных методик обучения </a:t>
            </a:r>
            <a:r>
              <a:rPr lang="ru-RU" sz="3000" dirty="0"/>
              <a:t>с учётом возрастных и индивидуальных особенностей.</a:t>
            </a:r>
          </a:p>
          <a:p>
            <a:pPr>
              <a:lnSpc>
                <a:spcPct val="100000"/>
              </a:lnSpc>
            </a:pPr>
            <a:r>
              <a:rPr lang="ru-RU" sz="3000" dirty="0" smtClean="0"/>
              <a:t>· </a:t>
            </a:r>
            <a:r>
              <a:rPr lang="ru-RU" sz="3000" dirty="0">
                <a:solidFill>
                  <a:schemeClr val="accent6">
                    <a:lumMod val="75000"/>
                  </a:schemeClr>
                </a:solidFill>
              </a:rPr>
              <a:t>Психологическое сопровождение в школе </a:t>
            </a:r>
            <a:r>
              <a:rPr lang="ru-RU" sz="3000" dirty="0"/>
              <a:t>(психологи, диагностика готовности к школе, профориентация, коррекция трудностей в обучении, помощь в кризисных ситуациях).</a:t>
            </a:r>
          </a:p>
          <a:p>
            <a:pPr>
              <a:lnSpc>
                <a:spcPct val="100000"/>
              </a:lnSpc>
            </a:pPr>
            <a:r>
              <a:rPr lang="ru-RU" sz="3000" dirty="0" smtClean="0"/>
              <a:t>· </a:t>
            </a:r>
            <a:r>
              <a:rPr lang="ru-RU" sz="3000" dirty="0"/>
              <a:t>Подготовка педагогов и родителей </a:t>
            </a:r>
            <a:r>
              <a:rPr lang="ru-RU" sz="3000" dirty="0">
                <a:solidFill>
                  <a:schemeClr val="accent6">
                    <a:lumMod val="75000"/>
                  </a:schemeClr>
                </a:solidFill>
              </a:rPr>
              <a:t>к взаимодействию с детьми.</a:t>
            </a:r>
          </a:p>
        </p:txBody>
      </p:sp>
    </p:spTree>
    <p:extLst>
      <p:ext uri="{BB962C8B-B14F-4D97-AF65-F5344CB8AC3E}">
        <p14:creationId xmlns:p14="http://schemas.microsoft.com/office/powerpoint/2010/main" val="842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smtClean="0"/>
              <a:t>здравоохранении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8200" y="1809000"/>
            <a:ext cx="10444163" cy="4274300"/>
          </a:xfrm>
        </p:spPr>
        <p:txBody>
          <a:bodyPr>
            <a:normAutofit/>
          </a:bodyPr>
          <a:lstStyle/>
          <a:p>
            <a:r>
              <a:rPr lang="ru-RU" dirty="0" smtClean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Клиническая психология</a:t>
            </a:r>
            <a:r>
              <a:rPr lang="ru-RU" dirty="0"/>
              <a:t>: диагностика и коррекция психических расстройств, реабилитация после травм и инсультов, </a:t>
            </a:r>
            <a:r>
              <a:rPr lang="ru-RU" dirty="0" err="1"/>
              <a:t>психосоматика</a:t>
            </a:r>
            <a:r>
              <a:rPr lang="ru-RU" dirty="0"/>
              <a:t> (влияние психики на телесные болезни).</a:t>
            </a:r>
          </a:p>
          <a:p>
            <a:r>
              <a:rPr lang="ru-RU" dirty="0" smtClean="0"/>
              <a:t>· </a:t>
            </a:r>
            <a:r>
              <a:rPr lang="ru-RU" dirty="0"/>
              <a:t>Психологическая помощь в кризисных ситуациях (суицидальное поведение, утрата, катастрофы).</a:t>
            </a:r>
          </a:p>
          <a:p>
            <a:r>
              <a:rPr lang="ru-RU" dirty="0" smtClean="0"/>
              <a:t>· </a:t>
            </a:r>
            <a:r>
              <a:rPr lang="ru-RU" dirty="0"/>
              <a:t>Работа с ВИЧ-инфицированными, </a:t>
            </a:r>
            <a:r>
              <a:rPr lang="ru-RU" dirty="0" err="1"/>
              <a:t>онкобольными</a:t>
            </a:r>
            <a:r>
              <a:rPr lang="ru-RU" dirty="0"/>
              <a:t>, паллиативная помощь.</a:t>
            </a:r>
          </a:p>
          <a:p>
            <a:r>
              <a:rPr lang="ru-RU" dirty="0" smtClean="0"/>
              <a:t>· </a:t>
            </a:r>
            <a:r>
              <a:rPr lang="ru-RU" dirty="0"/>
              <a:t>Профилактика зависимостей (алкоголь, наркотики, </a:t>
            </a:r>
            <a:r>
              <a:rPr lang="ru-RU" dirty="0" err="1"/>
              <a:t>игромания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172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бизнесе и </a:t>
            </a:r>
            <a:r>
              <a:rPr lang="ru-RU" dirty="0" smtClean="0"/>
              <a:t>экономике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 smtClean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Управление персоналом</a:t>
            </a:r>
            <a:r>
              <a:rPr lang="ru-RU" dirty="0"/>
              <a:t>: подбор, адаптация, мотивация, оценка (</a:t>
            </a:r>
            <a:r>
              <a:rPr lang="ru-RU" dirty="0" err="1"/>
              <a:t>ассессмент</a:t>
            </a:r>
            <a:r>
              <a:rPr lang="ru-RU" dirty="0"/>
              <a:t>-центры), корпоративная культура, разрешение конфликтов.</a:t>
            </a:r>
          </a:p>
          <a:p>
            <a:r>
              <a:rPr lang="ru-RU" dirty="0" smtClean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Маркетинг и реклама</a:t>
            </a:r>
            <a:r>
              <a:rPr lang="ru-RU" dirty="0"/>
              <a:t>: изучение поведения потребителей, мотивации покупок, </a:t>
            </a:r>
            <a:r>
              <a:rPr lang="ru-RU" dirty="0" err="1"/>
              <a:t>брендинг</a:t>
            </a:r>
            <a:r>
              <a:rPr lang="ru-RU" dirty="0"/>
              <a:t>, </a:t>
            </a:r>
            <a:r>
              <a:rPr lang="ru-RU" dirty="0" err="1"/>
              <a:t>нейромаркетинг</a:t>
            </a:r>
            <a:r>
              <a:rPr lang="ru-RU" dirty="0"/>
              <a:t>.</a:t>
            </a:r>
          </a:p>
          <a:p>
            <a:r>
              <a:rPr lang="ru-RU" dirty="0" smtClean="0"/>
              <a:t>·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Эргономика и дизайн</a:t>
            </a:r>
            <a:r>
              <a:rPr lang="ru-RU" dirty="0"/>
              <a:t>: создание удобной и безопасной техники, интерфейсов.</a:t>
            </a:r>
          </a:p>
        </p:txBody>
      </p:sp>
    </p:spTree>
    <p:extLst>
      <p:ext uri="{BB962C8B-B14F-4D97-AF65-F5344CB8AC3E}">
        <p14:creationId xmlns:p14="http://schemas.microsoft.com/office/powerpoint/2010/main" val="102347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044000"/>
            <a:ext cx="5157787" cy="823912"/>
          </a:xfrm>
        </p:spPr>
        <p:txBody>
          <a:bodyPr/>
          <a:lstStyle/>
          <a:p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В политике и управлении: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7" y="1867912"/>
            <a:ext cx="5157787" cy="4216088"/>
          </a:xfrm>
        </p:spPr>
        <p:txBody>
          <a:bodyPr>
            <a:normAutofit lnSpcReduction="10000"/>
          </a:bodyPr>
          <a:lstStyle/>
          <a:p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Политическая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психология: 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анализ поведения избирателей, лидерства, политических установок, пропаганды, манипуляции массовым сознанием.</a:t>
            </a:r>
          </a:p>
          <a:p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Психология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управления: 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подготовка руководителей, принятие решений, управление конфликтами в органах власти.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59440" y="902043"/>
            <a:ext cx="5183188" cy="553913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В правовой системе:</a:t>
            </a:r>
            <a:endParaRPr lang="ru-RU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1867912"/>
            <a:ext cx="5183188" cy="4531088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Судебно-психологическая экспертиза 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(оценка свидетелей, подозреваемых, потерпевших; определение вменяемости).</a:t>
            </a:r>
          </a:p>
          <a:p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Психология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в пенитенциарной системе 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(исправительные учреждения): реабилитация осуждённых, предотвращение рецидивов.</a:t>
            </a:r>
          </a:p>
          <a:p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Работа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с потерпевшими и свидетелями 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(снятие стресса, повышение достоверности показаний).</a:t>
            </a:r>
          </a:p>
        </p:txBody>
      </p:sp>
    </p:spTree>
    <p:extLst>
      <p:ext uri="{BB962C8B-B14F-4D97-AF65-F5344CB8AC3E}">
        <p14:creationId xmlns:p14="http://schemas.microsoft.com/office/powerpoint/2010/main" val="123377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651000" y="459000"/>
            <a:ext cx="10631363" cy="6075000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smtClean="0">
                <a:solidFill>
                  <a:schemeClr val="accent6">
                    <a:lumMod val="75000"/>
                  </a:schemeClr>
                </a:solidFill>
              </a:rPr>
              <a:t>В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спорте:</a:t>
            </a:r>
          </a:p>
          <a:p>
            <a:r>
              <a:rPr lang="ru-RU" dirty="0"/>
              <a:t>  · Психологическая подготовка спортсменов к соревнованиям, управление стрессом, формирование командного духа, работа с мотивацией, восстановление после травм.</a:t>
            </a:r>
          </a:p>
          <a:p>
            <a:r>
              <a:rPr lang="ru-RU" b="1" dirty="0" smtClean="0">
                <a:solidFill>
                  <a:schemeClr val="accent6">
                    <a:lumMod val="75000"/>
                  </a:schemeClr>
                </a:solidFill>
              </a:rPr>
              <a:t>В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семье и повседневной жизни:</a:t>
            </a:r>
          </a:p>
          <a:p>
            <a:r>
              <a:rPr lang="ru-RU" dirty="0"/>
              <a:t>  · Семейное консультирование, помощь в преодолении кризисов, улучшение детско-родительских отношений.</a:t>
            </a:r>
          </a:p>
          <a:p>
            <a:r>
              <a:rPr lang="ru-RU" dirty="0"/>
              <a:t>  · Популяризация психологических знаний через книги, тренинги, СМИ, что повышает психологическую грамотность населения, помогает людям лучше понимать себя и других.</a:t>
            </a:r>
          </a:p>
          <a:p>
            <a:r>
              <a:rPr lang="ru-RU" b="1" dirty="0" smtClean="0">
                <a:solidFill>
                  <a:schemeClr val="accent6">
                    <a:lumMod val="75000"/>
                  </a:schemeClr>
                </a:solidFill>
              </a:rPr>
              <a:t>В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науке и технике:</a:t>
            </a:r>
          </a:p>
          <a:p>
            <a:r>
              <a:rPr lang="ru-RU" dirty="0"/>
              <a:t>  · Психология как источник моделей для искусственного интеллекта (когнитивные архитектуры).</a:t>
            </a:r>
          </a:p>
          <a:p>
            <a:r>
              <a:rPr lang="ru-RU" dirty="0"/>
              <a:t>  · Человеческий фактор в сложных системах (авиация, космос, атомная энергетика) — обеспечение безопасности и надёжности.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74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114916"/>
            <a:ext cx="8820000" cy="1672954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Важные учёные-психологи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4807253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69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8" name="AutoShape 6" descr="Picture background"/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" y="20760"/>
            <a:ext cx="2512442" cy="338295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846" y="3249000"/>
            <a:ext cx="2881203" cy="360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100" y="3249000"/>
            <a:ext cx="2471213" cy="3609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638" y="0"/>
            <a:ext cx="5776000" cy="3249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313" y="1184019"/>
            <a:ext cx="3029325" cy="430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3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114916"/>
            <a:ext cx="8820000" cy="1672954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Психические явления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4807253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70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1000" y="864000"/>
            <a:ext cx="10444163" cy="55793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I. Психические процессы </a:t>
            </a:r>
            <a:r>
              <a:rPr lang="ru-RU" dirty="0"/>
              <a:t>(см. п. 5) — элементарные единицы психики, имеют начало, течение и конец. Обеспечивают отражение и реализацию поведения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II. Психические состояния </a:t>
            </a:r>
            <a:r>
              <a:rPr lang="ru-RU" dirty="0"/>
              <a:t>— целостная характеристика психической деятельности за определённый период времени, показывающая своеобразие протекания психических процессов в зависимости от отражаемых предметов и явлений, предшествующего состояния и свойств личности</a:t>
            </a:r>
            <a:r>
              <a:rPr lang="ru-RU" dirty="0" smtClean="0"/>
              <a:t>.</a:t>
            </a:r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III. Психические свойства </a:t>
            </a:r>
            <a:r>
              <a:rPr lang="ru-RU" dirty="0"/>
              <a:t>— устойчивые, повторяющиеся, типичные для данного человека особенности его психики. Формируются в процессе жизни и деятельности.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132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</a:t>
            </a:r>
            <a:r>
              <a:rPr lang="ru-RU" dirty="0"/>
              <a:t>свойств личности: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561000" y="1494000"/>
            <a:ext cx="11377800" cy="5366571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1. Темперамент </a:t>
            </a:r>
            <a:r>
              <a:rPr lang="ru-RU" dirty="0"/>
              <a:t>— индивидуальные особенности психики, определяющие динамику психической деятельности (скорость, темп, интенсивность, переключаемость). Основан на свойствах нервной системы (сила, подвижность, уравновешенность). Типы (по Гиппократу-Павлову): холерик, сангвиник, флегматик, меланхолик.</a:t>
            </a:r>
          </a:p>
          <a:p>
            <a:r>
              <a:rPr lang="ru-RU" dirty="0"/>
              <a:t>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2. Характер </a:t>
            </a:r>
            <a:r>
              <a:rPr lang="ru-RU" dirty="0"/>
              <a:t>— совокупность устойчивых черт личности, проявляющихся в отношении к себе, к другим, к деятельности, к вещам. Определяет типичные способы поведения и эмоционального реагирования. Может включать акцентуации (крайние варианты нормы).</a:t>
            </a:r>
          </a:p>
          <a:p>
            <a:r>
              <a:rPr lang="ru-RU" dirty="0"/>
              <a:t>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3. Способности </a:t>
            </a:r>
            <a:r>
              <a:rPr lang="ru-RU" dirty="0"/>
              <a:t>— индивидуально-психологические особенности, являющиеся условием успешного выполнения деятельности. Виды: общие (интеллект, креативность) и специальные (музыкальные, математические, педагогические). Уровни: задатки (врождённые предпосылки), способности, одарённость, талант, гениальность.</a:t>
            </a:r>
          </a:p>
          <a:p>
            <a:r>
              <a:rPr lang="ru-RU" dirty="0"/>
              <a:t>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4. Направленность </a:t>
            </a:r>
            <a:r>
              <a:rPr lang="ru-RU" dirty="0"/>
              <a:t>— система устойчивых мотивов, определяющая активность личности и её избирательность. Включает: потребности, интересы, склонности, идеалы, мировоззрение, убеждения.</a:t>
            </a:r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· Свойства более устойчивы, чем состояния, но могут меняться под влиянием жизненных обстоятельств и целенаправленной работы.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57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91790"/>
            <a:ext cx="702127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1" y="1114916"/>
            <a:ext cx="8820000" cy="167295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Этический кодекс </a:t>
            </a:r>
            <a:r>
              <a:rPr lang="ru-RU" b="1" dirty="0">
                <a:solidFill>
                  <a:schemeClr val="accent1"/>
                </a:solidFill>
              </a:rPr>
              <a:t>психолога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4807253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08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838200" y="1404000"/>
            <a:ext cx="10444163" cy="404971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Этические принципы регулируют профессиональную деятельность психологов, защищают права клиентов и поддерживают доверие к профессии. В разных странах приняты свои кодексы (Американская психологическая ассоциация, Российское психологическое общество, Европейская федерация психологических ассоциаций).</a:t>
            </a:r>
          </a:p>
          <a:p>
            <a:r>
              <a:rPr lang="ru-RU" dirty="0"/>
              <a:t> </a:t>
            </a:r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· Основополагающий принцип: «Не навреди» (</a:t>
            </a:r>
            <a:r>
              <a:rPr lang="ru-RU" dirty="0" err="1">
                <a:solidFill>
                  <a:schemeClr val="accent6">
                    <a:lumMod val="75000"/>
                  </a:schemeClr>
                </a:solidFill>
              </a:rPr>
              <a:t>Non-maleficence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). Вся деятельность психолога должна быть направлена на благо клиента и общества.</a:t>
            </a:r>
          </a:p>
        </p:txBody>
      </p:sp>
    </p:spTree>
    <p:extLst>
      <p:ext uri="{BB962C8B-B14F-4D97-AF65-F5344CB8AC3E}">
        <p14:creationId xmlns:p14="http://schemas.microsoft.com/office/powerpoint/2010/main" val="297865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этические принципы и правила: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1. </a:t>
            </a:r>
            <a:r>
              <a:rPr lang="ru-RU" dirty="0" smtClean="0"/>
              <a:t>Конфиденциальность</a:t>
            </a:r>
            <a:endParaRPr lang="ru-RU" dirty="0"/>
          </a:p>
          <a:p>
            <a:r>
              <a:rPr lang="ru-RU" dirty="0" smtClean="0"/>
              <a:t>2</a:t>
            </a:r>
            <a:r>
              <a:rPr lang="ru-RU" dirty="0"/>
              <a:t>. </a:t>
            </a:r>
            <a:r>
              <a:rPr lang="ru-RU" dirty="0" smtClean="0"/>
              <a:t>Компетентность</a:t>
            </a:r>
            <a:endParaRPr lang="ru-RU" dirty="0"/>
          </a:p>
          <a:p>
            <a:r>
              <a:rPr lang="ru-RU" dirty="0" smtClean="0"/>
              <a:t>3</a:t>
            </a:r>
            <a:r>
              <a:rPr lang="ru-RU" dirty="0"/>
              <a:t>. Уважение к личности, автономии и </a:t>
            </a:r>
            <a:r>
              <a:rPr lang="ru-RU" dirty="0" smtClean="0"/>
              <a:t>достоинству</a:t>
            </a:r>
            <a:endParaRPr lang="ru-RU" dirty="0"/>
          </a:p>
          <a:p>
            <a:r>
              <a:rPr lang="ru-RU" dirty="0" smtClean="0"/>
              <a:t>4</a:t>
            </a:r>
            <a:r>
              <a:rPr lang="ru-RU" dirty="0"/>
              <a:t>. Честность и открытость (информированное </a:t>
            </a:r>
            <a:r>
              <a:rPr lang="ru-RU" dirty="0" smtClean="0"/>
              <a:t>согласие)</a:t>
            </a:r>
          </a:p>
          <a:p>
            <a:r>
              <a:rPr lang="ru-RU" dirty="0" smtClean="0"/>
              <a:t>5</a:t>
            </a:r>
            <a:r>
              <a:rPr lang="ru-RU" dirty="0"/>
              <a:t>. </a:t>
            </a:r>
            <a:r>
              <a:rPr lang="ru-RU" dirty="0" smtClean="0"/>
              <a:t>Ответственность</a:t>
            </a:r>
            <a:endParaRPr lang="ru-RU" dirty="0"/>
          </a:p>
          <a:p>
            <a:r>
              <a:rPr lang="ru-RU" dirty="0" smtClean="0"/>
              <a:t>6</a:t>
            </a:r>
            <a:r>
              <a:rPr lang="ru-RU" dirty="0"/>
              <a:t>. Избегание двойных (множественных) </a:t>
            </a:r>
            <a:r>
              <a:rPr lang="ru-RU" dirty="0" smtClean="0"/>
              <a:t>отношений</a:t>
            </a:r>
            <a:endParaRPr lang="ru-RU" dirty="0"/>
          </a:p>
          <a:p>
            <a:r>
              <a:rPr lang="ru-RU" dirty="0" smtClean="0"/>
              <a:t>7</a:t>
            </a:r>
            <a:r>
              <a:rPr lang="ru-RU" dirty="0"/>
              <a:t>. Коллегиальность и уважение к </a:t>
            </a:r>
            <a:r>
              <a:rPr lang="ru-RU" dirty="0" smtClean="0"/>
              <a:t>коллегам</a:t>
            </a:r>
            <a:endParaRPr lang="ru-RU" dirty="0"/>
          </a:p>
          <a:p>
            <a:r>
              <a:rPr lang="ru-RU" dirty="0" smtClean="0"/>
              <a:t>8</a:t>
            </a:r>
            <a:r>
              <a:rPr lang="ru-RU" dirty="0"/>
              <a:t>. Обеспечение благополучия </a:t>
            </a:r>
            <a:r>
              <a:rPr lang="ru-RU" dirty="0" smtClean="0"/>
              <a:t>клиента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816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E893E3A9-6396-47AA-8648-E22DFF86D681}"/>
              </a:ext>
            </a:extLst>
          </p:cNvPr>
          <p:cNvSpPr txBox="1">
            <a:spLocks/>
          </p:cNvSpPr>
          <p:nvPr/>
        </p:nvSpPr>
        <p:spPr>
          <a:xfrm>
            <a:off x="146820" y="2103233"/>
            <a:ext cx="4815000" cy="115026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accent2"/>
                </a:solidFill>
              </a:rPr>
              <a:t>СПАСИБО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5F5E2CE-ED82-4BE6-9C0D-EABA8AA8E7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971" y="2774373"/>
            <a:ext cx="7021279" cy="341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9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Психологи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B4C8C"/>
      </a:accent1>
      <a:accent2>
        <a:srgbClr val="6DA7F2"/>
      </a:accent2>
      <a:accent3>
        <a:srgbClr val="82B479"/>
      </a:accent3>
      <a:accent4>
        <a:srgbClr val="B2D9A7"/>
      </a:accent4>
      <a:accent5>
        <a:srgbClr val="D96725"/>
      </a:accent5>
      <a:accent6>
        <a:srgbClr val="F29D52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9972</TotalTime>
  <Words>2313</Words>
  <Application>Microsoft Office PowerPoint</Application>
  <PresentationFormat>Широкоэкранный</PresentationFormat>
  <Paragraphs>179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3" baseType="lpstr">
      <vt:lpstr>Arial</vt:lpstr>
      <vt:lpstr>Bahnschrift SemiBold</vt:lpstr>
      <vt:lpstr>Calibri</vt:lpstr>
      <vt:lpstr>Calibri Light</vt:lpstr>
      <vt:lpstr>Тема Office</vt:lpstr>
      <vt:lpstr> Психология как наука</vt:lpstr>
      <vt:lpstr>Определение и этимология</vt:lpstr>
      <vt:lpstr>Объект и предмет психологии</vt:lpstr>
      <vt:lpstr>Отличие житейской психологии от научной</vt:lpstr>
      <vt:lpstr>Методы психологического исследования</vt:lpstr>
      <vt:lpstr>Место психологии в системе наук.</vt:lpstr>
      <vt:lpstr> История психологии</vt:lpstr>
      <vt:lpstr>Этапы становления психологии как науки.</vt:lpstr>
      <vt:lpstr>I этап: Античная психология (VI в. до н. э. – V в. н. э.)</vt:lpstr>
      <vt:lpstr>II этап: Средневековье и эпоха Возрождения (V–XVI вв.)</vt:lpstr>
      <vt:lpstr>III этап: Новое время (XVII–XIX вв.) — психология сознания</vt:lpstr>
      <vt:lpstr>IV этап: XX век — формирование основных школ и кризис психологии.</vt:lpstr>
      <vt:lpstr>V этап: Современная психология (конец XX – XXI вв.)</vt:lpstr>
      <vt:lpstr> Основные направления психологии</vt:lpstr>
      <vt:lpstr>Презентация PowerPoint</vt:lpstr>
      <vt:lpstr> Основные понятия психологии</vt:lpstr>
      <vt:lpstr>Презентация PowerPoint</vt:lpstr>
      <vt:lpstr> Психологические процессы</vt:lpstr>
      <vt:lpstr>I. Познавательные процессы</vt:lpstr>
      <vt:lpstr>II. Эмоционально-волевые процессы</vt:lpstr>
      <vt:lpstr>III. Мотивационные процессы</vt:lpstr>
      <vt:lpstr>Перспективы развития психологии</vt:lpstr>
      <vt:lpstr>Презентация PowerPoint</vt:lpstr>
      <vt:lpstr>Роль психологии в обществе</vt:lpstr>
      <vt:lpstr>В образовании и воспитании </vt:lpstr>
      <vt:lpstr>В здравоохранении</vt:lpstr>
      <vt:lpstr>В бизнесе и экономике</vt:lpstr>
      <vt:lpstr>Презентация PowerPoint</vt:lpstr>
      <vt:lpstr>Презентация PowerPoint</vt:lpstr>
      <vt:lpstr>Важные учёные-психологи</vt:lpstr>
      <vt:lpstr>Презентация PowerPoint</vt:lpstr>
      <vt:lpstr>Психические явления</vt:lpstr>
      <vt:lpstr>Презентация PowerPoint</vt:lpstr>
      <vt:lpstr>Структура свойств личности:</vt:lpstr>
      <vt:lpstr>Этический кодекс психолога</vt:lpstr>
      <vt:lpstr>Презентация PowerPoint</vt:lpstr>
      <vt:lpstr>Ключевые этические принципы и правила: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Юрий Козырев</dc:creator>
  <cp:lastModifiedBy>Пользователь</cp:lastModifiedBy>
  <cp:revision>30</cp:revision>
  <dcterms:created xsi:type="dcterms:W3CDTF">2020-06-21T11:59:54Z</dcterms:created>
  <dcterms:modified xsi:type="dcterms:W3CDTF">2026-03-23T10:31:58Z</dcterms:modified>
</cp:coreProperties>
</file>
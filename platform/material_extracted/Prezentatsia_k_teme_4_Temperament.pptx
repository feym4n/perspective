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>
      <p:cViewPr varScale="1">
        <p:scale>
          <a:sx n="64" d="100"/>
          <a:sy n="64" d="100"/>
        </p:scale>
        <p:origin x="900" y="72"/>
      </p:cViewPr>
      <p:guideLst>
        <p:guide pos="2160" orient="horz"/>
        <p:guide pos="3840"/>
      </p:guideLst>
    </p:cSldViewPr>
  </p:slideViewPr>
  <p:gridSpacing cx="45000" cy="450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599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" name="Прямоугольник 5"/>
          <p:cNvSpPr/>
          <p:nvPr userDrawn="1"/>
        </p:nvSpPr>
        <p:spPr bwMode="auto"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 bwMode="auto">
          <a:xfrm>
            <a:off x="12450" y="6772425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grpSp>
        <p:nvGrpSpPr>
          <p:cNvPr id="9" name="Группа 8"/>
          <p:cNvGrpSpPr/>
          <p:nvPr userDrawn="1"/>
        </p:nvGrpSpPr>
        <p:grpSpPr bwMode="auto">
          <a:xfrm>
            <a:off x="0" y="49500"/>
            <a:ext cx="2844750" cy="274500"/>
            <a:chOff x="5228062" y="49500"/>
            <a:chExt cx="2844750" cy="274500"/>
          </a:xfrm>
          <a:solidFill>
            <a:schemeClr val="accent2"/>
          </a:solidFill>
        </p:grpSpPr>
        <p:sp>
          <p:nvSpPr>
            <p:cNvPr id="10" name="Прямоугольник 9"/>
            <p:cNvSpPr/>
            <p:nvPr userDrawn="1"/>
          </p:nvSpPr>
          <p:spPr bwMode="auto">
            <a:xfrm>
              <a:off x="5228062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1" name="Блок-схема: объединение 10"/>
            <p:cNvSpPr/>
            <p:nvPr userDrawn="1"/>
          </p:nvSpPr>
          <p:spPr bwMode="auto">
            <a:xfrm>
              <a:off x="7465312" y="49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2" name="Группа 11"/>
          <p:cNvGrpSpPr/>
          <p:nvPr userDrawn="1"/>
        </p:nvGrpSpPr>
        <p:grpSpPr bwMode="auto">
          <a:xfrm>
            <a:off x="9382650" y="6596925"/>
            <a:ext cx="2844750" cy="274500"/>
            <a:chOff x="9347250" y="6571200"/>
            <a:chExt cx="2844750" cy="274500"/>
          </a:xfrm>
          <a:solidFill>
            <a:schemeClr val="accent2"/>
          </a:solidFill>
        </p:grpSpPr>
        <p:sp>
          <p:nvSpPr>
            <p:cNvPr id="13" name="Прямоугольник 12"/>
            <p:cNvSpPr/>
            <p:nvPr userDrawn="1"/>
          </p:nvSpPr>
          <p:spPr bwMode="auto">
            <a:xfrm>
              <a:off x="9651000" y="65712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4" name="Блок-схема: объединение 13"/>
            <p:cNvSpPr/>
            <p:nvPr userDrawn="1"/>
          </p:nvSpPr>
          <p:spPr bwMode="auto">
            <a:xfrm rot="10800000">
              <a:off x="9347250" y="65712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sp>
        <p:nvSpPr>
          <p:cNvPr id="16" name="Текст 18"/>
          <p:cNvSpPr>
            <a:spLocks noGrp="1"/>
          </p:cNvSpPr>
          <p:nvPr>
            <p:ph type="body" sz="quarter" idx="14"/>
          </p:nvPr>
        </p:nvSpPr>
        <p:spPr bwMode="auto">
          <a:xfrm>
            <a:off x="838200" y="2033588"/>
            <a:ext cx="10444163" cy="4049712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5998" y="365125"/>
            <a:ext cx="5257801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90FB3E60-2F82-4C12-95B3-7ACC1B0E5862}" type="datetimeFigureOut">
              <a:rPr lang="ru-RU"/>
              <a:t/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 bwMode="auto"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accent1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 bwMode="auto">
          <a:xfrm>
            <a:off x="12450" y="6772425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accent1"/>
              </a:solidFill>
            </a:endParaRPr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20850" y="-575"/>
            <a:ext cx="5186362" cy="685857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grpSp>
        <p:nvGrpSpPr>
          <p:cNvPr id="9" name="Группа 8"/>
          <p:cNvGrpSpPr/>
          <p:nvPr userDrawn="1"/>
        </p:nvGrpSpPr>
        <p:grpSpPr bwMode="auto">
          <a:xfrm>
            <a:off x="5207212" y="36075"/>
            <a:ext cx="2844750" cy="274500"/>
            <a:chOff x="5228062" y="49500"/>
            <a:chExt cx="2844750" cy="274500"/>
          </a:xfrm>
          <a:solidFill>
            <a:schemeClr val="accent2"/>
          </a:solidFill>
        </p:grpSpPr>
        <p:sp>
          <p:nvSpPr>
            <p:cNvPr id="10" name="Прямоугольник 9"/>
            <p:cNvSpPr/>
            <p:nvPr userDrawn="1"/>
          </p:nvSpPr>
          <p:spPr bwMode="auto">
            <a:xfrm>
              <a:off x="5228062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11" name="Блок-схема: объединение 10"/>
            <p:cNvSpPr/>
            <p:nvPr userDrawn="1"/>
          </p:nvSpPr>
          <p:spPr bwMode="auto">
            <a:xfrm>
              <a:off x="7465312" y="49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</p:grpSp>
      <p:grpSp>
        <p:nvGrpSpPr>
          <p:cNvPr id="12" name="Группа 11"/>
          <p:cNvGrpSpPr/>
          <p:nvPr userDrawn="1"/>
        </p:nvGrpSpPr>
        <p:grpSpPr bwMode="auto">
          <a:xfrm>
            <a:off x="9382650" y="6596925"/>
            <a:ext cx="2844750" cy="274500"/>
            <a:chOff x="9347250" y="6571200"/>
            <a:chExt cx="2844750" cy="274500"/>
          </a:xfrm>
          <a:solidFill>
            <a:schemeClr val="accent2"/>
          </a:solidFill>
        </p:grpSpPr>
        <p:sp>
          <p:nvSpPr>
            <p:cNvPr id="13" name="Прямоугольник 12"/>
            <p:cNvSpPr/>
            <p:nvPr userDrawn="1"/>
          </p:nvSpPr>
          <p:spPr bwMode="auto">
            <a:xfrm>
              <a:off x="9651000" y="65712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14" name="Блок-схема: объединение 13"/>
            <p:cNvSpPr/>
            <p:nvPr userDrawn="1"/>
          </p:nvSpPr>
          <p:spPr bwMode="auto">
            <a:xfrm rot="10800000">
              <a:off x="9347250" y="65712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</p:grpSp>
      <p:sp>
        <p:nvSpPr>
          <p:cNvPr id="16" name="Текст 18"/>
          <p:cNvSpPr>
            <a:spLocks noGrp="1"/>
          </p:cNvSpPr>
          <p:nvPr>
            <p:ph type="body" sz="quarter" idx="14"/>
          </p:nvPr>
        </p:nvSpPr>
        <p:spPr bwMode="auto">
          <a:xfrm>
            <a:off x="6096000" y="2033588"/>
            <a:ext cx="5186363" cy="404971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устой слайд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 bwMode="auto"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accent1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 bwMode="auto">
          <a:xfrm>
            <a:off x="0" y="675900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accent1"/>
              </a:solidFill>
            </a:endParaRPr>
          </a:p>
        </p:txBody>
      </p:sp>
      <p:grpSp>
        <p:nvGrpSpPr>
          <p:cNvPr id="7" name="Группа 6"/>
          <p:cNvGrpSpPr/>
          <p:nvPr userDrawn="1"/>
        </p:nvGrpSpPr>
        <p:grpSpPr bwMode="auto">
          <a:xfrm>
            <a:off x="4161000" y="150"/>
            <a:ext cx="2844750" cy="286020"/>
            <a:chOff x="9347250" y="37980"/>
            <a:chExt cx="2844750" cy="286020"/>
          </a:xfrm>
          <a:solidFill>
            <a:schemeClr val="accent2"/>
          </a:solidFill>
        </p:grpSpPr>
        <p:sp>
          <p:nvSpPr>
            <p:cNvPr id="8" name="Прямоугольник 7"/>
            <p:cNvSpPr/>
            <p:nvPr userDrawn="1"/>
          </p:nvSpPr>
          <p:spPr bwMode="auto">
            <a:xfrm>
              <a:off x="9651000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9" name="Блок-схема: объединение 8"/>
            <p:cNvSpPr/>
            <p:nvPr userDrawn="1"/>
          </p:nvSpPr>
          <p:spPr bwMode="auto">
            <a:xfrm>
              <a:off x="9347250" y="3798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</p:grpSp>
      <p:grpSp>
        <p:nvGrpSpPr>
          <p:cNvPr id="10" name="Группа 9"/>
          <p:cNvGrpSpPr/>
          <p:nvPr userDrawn="1"/>
        </p:nvGrpSpPr>
        <p:grpSpPr bwMode="auto">
          <a:xfrm>
            <a:off x="-35250" y="6583500"/>
            <a:ext cx="2844750" cy="274500"/>
            <a:chOff x="-35250" y="6583500"/>
            <a:chExt cx="2844750" cy="274500"/>
          </a:xfrm>
          <a:solidFill>
            <a:schemeClr val="accent2"/>
          </a:solidFill>
        </p:grpSpPr>
        <p:sp>
          <p:nvSpPr>
            <p:cNvPr id="11" name="Прямоугольник 10"/>
            <p:cNvSpPr/>
            <p:nvPr userDrawn="1"/>
          </p:nvSpPr>
          <p:spPr bwMode="auto">
            <a:xfrm>
              <a:off x="-35250" y="6583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12" name="Блок-схема: объединение 11"/>
            <p:cNvSpPr/>
            <p:nvPr userDrawn="1"/>
          </p:nvSpPr>
          <p:spPr bwMode="auto">
            <a:xfrm rot="10800000">
              <a:off x="2202000" y="6583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</p:grpSp>
      <p:sp>
        <p:nvSpPr>
          <p:cNvPr id="1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7005638" y="9000"/>
            <a:ext cx="5186362" cy="333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" name="Заголовок 16"/>
          <p:cNvSpPr>
            <a:spLocks noGrp="1"/>
          </p:cNvSpPr>
          <p:nvPr>
            <p:ph type="title"/>
          </p:nvPr>
        </p:nvSpPr>
        <p:spPr bwMode="auto">
          <a:xfrm>
            <a:off x="664987" y="485501"/>
            <a:ext cx="5257800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" name="Текст 18"/>
          <p:cNvSpPr>
            <a:spLocks noGrp="1"/>
          </p:cNvSpPr>
          <p:nvPr>
            <p:ph type="body" sz="quarter" idx="11"/>
          </p:nvPr>
        </p:nvSpPr>
        <p:spPr bwMode="auto">
          <a:xfrm>
            <a:off x="664987" y="2153964"/>
            <a:ext cx="5186363" cy="404971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12"/>
          </p:nvPr>
        </p:nvSpPr>
        <p:spPr bwMode="auto">
          <a:xfrm>
            <a:off x="6984638" y="3519000"/>
            <a:ext cx="5186362" cy="333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Объект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" name="Прямоугольник 9"/>
          <p:cNvSpPr/>
          <p:nvPr userDrawn="1"/>
        </p:nvSpPr>
        <p:spPr bwMode="auto">
          <a:xfrm>
            <a:off x="0" y="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accent1"/>
              </a:solidFill>
            </a:endParaRPr>
          </a:p>
        </p:txBody>
      </p:sp>
      <p:sp>
        <p:nvSpPr>
          <p:cNvPr id="11" name="Прямоугольник 10"/>
          <p:cNvSpPr/>
          <p:nvPr userDrawn="1"/>
        </p:nvSpPr>
        <p:spPr bwMode="auto">
          <a:xfrm>
            <a:off x="0" y="6759000"/>
            <a:ext cx="12192000" cy="9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accent1"/>
              </a:solidFill>
            </a:endParaRPr>
          </a:p>
        </p:txBody>
      </p:sp>
      <p:grpSp>
        <p:nvGrpSpPr>
          <p:cNvPr id="12" name="Группа 11"/>
          <p:cNvGrpSpPr/>
          <p:nvPr userDrawn="1"/>
        </p:nvGrpSpPr>
        <p:grpSpPr bwMode="auto">
          <a:xfrm>
            <a:off x="9347250" y="37980"/>
            <a:ext cx="2844750" cy="286020"/>
            <a:chOff x="9347250" y="37980"/>
            <a:chExt cx="2844750" cy="286020"/>
          </a:xfrm>
          <a:solidFill>
            <a:schemeClr val="accent2"/>
          </a:solidFill>
        </p:grpSpPr>
        <p:sp>
          <p:nvSpPr>
            <p:cNvPr id="13" name="Прямоугольник 12"/>
            <p:cNvSpPr/>
            <p:nvPr userDrawn="1"/>
          </p:nvSpPr>
          <p:spPr bwMode="auto">
            <a:xfrm>
              <a:off x="9651000" y="49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14" name="Блок-схема: объединение 13"/>
            <p:cNvSpPr/>
            <p:nvPr userDrawn="1"/>
          </p:nvSpPr>
          <p:spPr bwMode="auto">
            <a:xfrm>
              <a:off x="9347250" y="3798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</p:grpSp>
      <p:grpSp>
        <p:nvGrpSpPr>
          <p:cNvPr id="15" name="Группа 14"/>
          <p:cNvGrpSpPr/>
          <p:nvPr userDrawn="1"/>
        </p:nvGrpSpPr>
        <p:grpSpPr bwMode="auto">
          <a:xfrm>
            <a:off x="-35250" y="6583500"/>
            <a:ext cx="2844750" cy="274500"/>
            <a:chOff x="-35250" y="6583500"/>
            <a:chExt cx="2844750" cy="274500"/>
          </a:xfrm>
          <a:solidFill>
            <a:schemeClr val="accent2"/>
          </a:solidFill>
        </p:grpSpPr>
        <p:sp>
          <p:nvSpPr>
            <p:cNvPr id="16" name="Прямоугольник 15"/>
            <p:cNvSpPr/>
            <p:nvPr userDrawn="1"/>
          </p:nvSpPr>
          <p:spPr bwMode="auto">
            <a:xfrm>
              <a:off x="-35250" y="6583500"/>
              <a:ext cx="2541000" cy="274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17" name="Блок-схема: объединение 16"/>
            <p:cNvSpPr/>
            <p:nvPr userDrawn="1"/>
          </p:nvSpPr>
          <p:spPr bwMode="auto">
            <a:xfrm rot="10800000">
              <a:off x="2202000" y="6583500"/>
              <a:ext cx="607500" cy="274500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Пользовательский макет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Заголовок 11"/>
          <p:cNvSpPr>
            <a:spLocks noGrp="1"/>
          </p:cNvSpPr>
          <p:nvPr>
            <p:ph type="title"/>
          </p:nvPr>
        </p:nvSpPr>
        <p:spPr bwMode="auto">
          <a:xfrm>
            <a:off x="425450" y="234000"/>
            <a:ext cx="11341100" cy="10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25450" y="23034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" name="Рисунок 2"/>
          <p:cNvSpPr>
            <a:spLocks noGrp="1"/>
          </p:cNvSpPr>
          <p:nvPr>
            <p:ph type="pic" sz="quarter" idx="14"/>
          </p:nvPr>
        </p:nvSpPr>
        <p:spPr bwMode="auto">
          <a:xfrm>
            <a:off x="4595341" y="23034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Рисунок 2"/>
          <p:cNvSpPr>
            <a:spLocks noGrp="1"/>
          </p:cNvSpPr>
          <p:nvPr>
            <p:ph type="pic" sz="quarter" idx="15"/>
          </p:nvPr>
        </p:nvSpPr>
        <p:spPr bwMode="auto">
          <a:xfrm>
            <a:off x="8761675" y="2303463"/>
            <a:ext cx="3004875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Рисунок 2"/>
          <p:cNvSpPr>
            <a:spLocks noGrp="1"/>
          </p:cNvSpPr>
          <p:nvPr>
            <p:ph type="pic" sz="quarter" idx="16"/>
          </p:nvPr>
        </p:nvSpPr>
        <p:spPr bwMode="auto">
          <a:xfrm>
            <a:off x="425450" y="4058163"/>
            <a:ext cx="3004875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606109" y="40581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2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7776000" y="4058163"/>
            <a:ext cx="4005550" cy="16208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" name="Текст 4"/>
          <p:cNvSpPr>
            <a:spLocks noGrp="1"/>
          </p:cNvSpPr>
          <p:nvPr>
            <p:ph type="body" sz="quarter" idx="19"/>
          </p:nvPr>
        </p:nvSpPr>
        <p:spPr bwMode="auto">
          <a:xfrm>
            <a:off x="439739" y="1493838"/>
            <a:ext cx="11341100" cy="627062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hyperlink" Target="https://presentation-creation.ru/" TargetMode="Externa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3A2E417-5F45-4CBD-AEF8-95048E7B5C9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A092C9E-3229-4D78-8EDB-28C548B1E2D7}" type="slidenum">
              <a:rPr lang="ru-RU"/>
              <a:t/>
            </a:fld>
            <a:endParaRPr lang="ru-RU"/>
          </a:p>
        </p:txBody>
      </p:sp>
      <p:pic>
        <p:nvPicPr>
          <p:cNvPr id="7" name="Рисунок 6">
            <a:hlinkClick r:id="rId18"/>
          </p:cNvPr>
          <p:cNvPicPr>
            <a:picLocks noChangeAspect="1"/>
          </p:cNvPicPr>
          <p:nvPr userDrawn="1"/>
        </p:nvPicPr>
        <p:blipFill>
          <a:blip r:embed="rId19"/>
          <a:stretch/>
        </p:blipFill>
        <p:spPr bwMode="auto">
          <a:xfrm>
            <a:off x="-1194000" y="367393"/>
            <a:ext cx="757762" cy="757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3971" y="2774373"/>
            <a:ext cx="7021279" cy="3414726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 bwMode="auto">
          <a:xfrm>
            <a:off x="471000" y="15080"/>
            <a:ext cx="8820000" cy="1399264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ru-RU" b="1">
                <a:solidFill>
                  <a:schemeClr val="accent5"/>
                </a:solidFill>
              </a:rPr>
              <a:t>Психология темперамента</a:t>
            </a:r>
            <a:endParaRPr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 bwMode="auto">
          <a:xfrm flipH="0" flipV="0">
            <a:off x="336599" y="1732800"/>
            <a:ext cx="5446050" cy="44562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Темперамент (от лат. temperamentum — соразмерность, надлежащее соотношение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частей) — это совокупность устойчивых, индивидуальных, психофизиологических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свойств личности, которые определяют динамические особенности протекания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психических процессов и поведения человека.</a:t>
            </a:r>
            <a:endParaRPr sz="7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sz="3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Основные характеристики понятия</a:t>
            </a:r>
            <a:endParaRPr sz="15000" b="1">
              <a:solidFill>
                <a:schemeClr val="tx1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838200" y="1690688"/>
            <a:ext cx="10444163" cy="43926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Биологическая основа: Зависит от типа высшей нервной деятельности (физиология),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передается по наследству.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Динамичность: Определяет скорость, темп, ритм и интенсивность реакций, а не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содержание мыслей или убеждений.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Устойчивость: Формируется в раннем детстве и остается относительно стабильным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на протяжении жизни (хотя под влиянием опыта может маскироваться).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Форма: Является «биологическим фундаментом», на котором «строится» характер и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личность в целом.</a:t>
            </a:r>
            <a:endParaRPr sz="8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>
          <a:xfrm flipH="0" flipV="0">
            <a:off x="5630250" y="365125"/>
            <a:ext cx="5723548" cy="1325563"/>
          </a:xfrm>
        </p:spPr>
        <p:txBody>
          <a:bodyPr/>
          <a:lstStyle/>
          <a:p>
            <a:pPr>
              <a:lnSpc>
                <a:spcPct val="114999"/>
              </a:lnSpc>
              <a:defRPr/>
            </a:pPr>
            <a:r>
              <a:rPr sz="2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Физиологические основы (Теория И.П. Павлова)</a:t>
            </a:r>
            <a:endParaRPr sz="13000" b="1">
              <a:solidFill>
                <a:schemeClr val="tx1"/>
              </a:solidFill>
            </a:endParaRPr>
          </a:p>
        </p:txBody>
      </p:sp>
      <p:pic>
        <p:nvPicPr>
          <p:cNvPr id="8" name="Рисунок 7"/>
          <p:cNvPicPr>
            <a:picLocks noChangeAspect="1" noGrp="1"/>
          </p:cNvPicPr>
          <p:nvPr>
            <p:ph type="pic" sz="quarter" idx="13"/>
          </p:nvPr>
        </p:nvPicPr>
        <p:blipFill>
          <a:blip r:embed="rId2"/>
          <a:stretch/>
        </p:blipFill>
        <p:spPr bwMode="auto">
          <a:prstGeom prst="rect">
            <a:avLst/>
          </a:prstGeom>
        </p:spPr>
      </p:pic>
      <p:sp>
        <p:nvSpPr>
          <p:cNvPr id="6" name="Текст 5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5630250" y="1690688"/>
            <a:ext cx="5723548" cy="433670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1 Сила НС: Способность выдерживать интенсивные и длительные нагрузки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(работоспособность клеток коры головного мозга).</a:t>
            </a:r>
            <a:endParaRPr sz="90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2 Уравновешенность: Соотношение процессов возбуждения и торможения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(преобладает одно или они равны).</a:t>
            </a:r>
            <a:endParaRPr sz="90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3 Подвижность: Скорость смены процессов возбуждения торможением и наоборот.</a:t>
            </a:r>
            <a:endParaRPr sz="9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" name="Рисунок 17"/>
          <p:cNvPicPr>
            <a:picLocks noChangeAspect="1" noGrp="1"/>
          </p:cNvPicPr>
          <p:nvPr>
            <p:ph type="pic" sz="quarter" idx="10"/>
          </p:nvPr>
        </p:nvPicPr>
        <p:blipFill>
          <a:blip r:embed="rId2"/>
          <a:stretch/>
        </p:blipFill>
        <p:spPr bwMode="auto">
          <a:prstGeom prst="rect">
            <a:avLst/>
          </a:prstGeom>
        </p:spPr>
      </p:pic>
      <p:sp>
        <p:nvSpPr>
          <p:cNvPr id="13" name="Заголовок 1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lnSpc>
                <a:spcPct val="114999"/>
              </a:lnSpc>
              <a:defRPr/>
            </a:pPr>
            <a:r>
              <a:rPr sz="2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4 типа ВНД (Высшей нервной деятельности)</a:t>
            </a:r>
            <a:endParaRPr sz="13000" b="1">
              <a:solidFill>
                <a:schemeClr val="tx1"/>
              </a:solidFill>
            </a:endParaRP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1"/>
          </p:nvPr>
        </p:nvSpPr>
        <p:spPr bwMode="auto">
          <a:xfrm flipH="0" flipV="0">
            <a:off x="381974" y="1925364"/>
            <a:ext cx="6105525" cy="4049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1 Сильный, уравновешенный, подвижный — Сангвиник.</a:t>
            </a:r>
            <a:endParaRPr sz="80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2 Сильный, уравновешенный, инертный (малоподвижный) — Флегматик.</a:t>
            </a:r>
            <a:endParaRPr sz="80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3 Сильный, неуравновешенный (с преобладанием возбуждения) — Холерик.</a:t>
            </a:r>
            <a:endParaRPr sz="80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4 Слабый — Меланхолик.</a:t>
            </a:r>
            <a:endParaRPr sz="8000">
              <a:solidFill>
                <a:schemeClr val="tx1"/>
              </a:solidFill>
            </a:endParaRPr>
          </a:p>
        </p:txBody>
      </p:sp>
      <p:pic>
        <p:nvPicPr>
          <p:cNvPr id="20" name="Рисунок 19"/>
          <p:cNvPicPr>
            <a:picLocks noChangeAspect="1" noGrp="1"/>
          </p:cNvPicPr>
          <p:nvPr>
            <p:ph type="pic" sz="quarter" idx="12"/>
          </p:nvPr>
        </p:nvPicPr>
        <p:blipFill>
          <a:blip r:embed="rId3"/>
          <a:stretch/>
        </p:blipFill>
        <p:spPr bwMode="auto"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156415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599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sz="4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Холерик</a:t>
            </a:r>
            <a:endParaRPr sz="16000" b="1">
              <a:solidFill>
                <a:schemeClr val="tx1"/>
              </a:solidFill>
            </a:endParaRPr>
          </a:p>
        </p:txBody>
      </p:sp>
      <p:sp>
        <p:nvSpPr>
          <p:cNvPr id="812172730" name="Текст 18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838200" y="1560165"/>
            <a:ext cx="10630875" cy="4523134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НС: Сильная, но неуравновешенная (возбуждение &gt; торможения).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Поведение: Высокая активность, энергичность, порывистость. Быстро загорается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идеей, но так же быстро может остыть.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Эмоции: Сильные, бурные, вспыльчивые. Эмоциональные переживания глубоки, но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неустойчивы (гнев сменяется великодушием).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Речь: Быстрая, страстная, с интонациями, часто перебивает.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Работоспособность: Цикличная. Может «свернуть горы» на пике вдохновения, затем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наступает истощение и спад.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Отношения: Лидер, инициатор, но может быть резким и нетерпимым к чужим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недостаткам.</a:t>
            </a:r>
            <a:endParaRPr sz="8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808730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599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>
                <a:solidFill>
                  <a:schemeClr val="tx1"/>
                </a:solidFill>
              </a:rPr>
              <a:t>Сангвиник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049172234" name="Текст 18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838199" y="1566863"/>
            <a:ext cx="10444163" cy="46148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НС: Сильная, уравновешенная, подвижная.</a:t>
            </a:r>
            <a:endParaRPr sz="9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Поведение: Высокая подвижность, жизнерадостность, общительность. Легко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приспосабливается к новым условиям.</a:t>
            </a:r>
            <a:endParaRPr sz="9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Эмоции: Возникают быстро, но не глубоки и легко сменяются. Обиды забывает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быстро. Экстраверт.</a:t>
            </a:r>
            <a:endParaRPr sz="9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Речь: Громкая, быстрая, выразительная, сопровождается жестами.</a:t>
            </a:r>
            <a:endParaRPr sz="9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Работоспособность: Продуктивен только при наличии интереса. К однообразной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работе быстро теряет интерес.</a:t>
            </a:r>
            <a:endParaRPr sz="9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Отношения: Душа компании, легко заводит знакомства, поверхностен в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привязанностях.</a:t>
            </a:r>
            <a:endParaRPr sz="9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438070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599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>
                <a:solidFill>
                  <a:schemeClr val="tx1"/>
                </a:solidFill>
              </a:rPr>
              <a:t>Флегматик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07839165" name="Текст 18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838200" y="1690688"/>
            <a:ext cx="10444163" cy="4392611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НС: Сильная, уравновешенная, инертная.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Поведение: Спокойный, медлительный, невозмутимый. Трудно переключается с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одного дела на другое.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Эмоции: Внешне слабо проявляются (трудно рассмешить или разгневать), чувства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глубоки и постоянны.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Речь: Медленная, монотонная, спокойная, без бурной жестикуляции.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Работоспособность: Очень высокая. Вынослив, усидчив, доводит дело до конца.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Склонен к порядку.</a:t>
            </a:r>
            <a:endParaRPr sz="8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Отношения: Трудно сходится с людьми, но очень верен в дружбе, надежен.</a:t>
            </a:r>
            <a:endParaRPr sz="8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16646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599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>
                <a:solidFill>
                  <a:schemeClr val="tx1"/>
                </a:solidFill>
              </a:rPr>
              <a:t>Меланхолик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916264410" name="Текст 18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838200" y="1619249"/>
            <a:ext cx="10444163" cy="446405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НС: Слабый тип.</a:t>
            </a:r>
            <a:endParaRPr sz="9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Поведение: Сдержанность, тревожность, застенчивость. Быстро утомляется,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нуждается в покое.</a:t>
            </a:r>
            <a:endParaRPr sz="9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Эмоции: Глубокие, длительные, но внешне слабо выражены. Очень раним,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чувствителен к критике. Склонен к переживаниям.</a:t>
            </a:r>
            <a:endParaRPr sz="9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Речь: Тихая, иногда до шепота, неуверенная.</a:t>
            </a:r>
            <a:endParaRPr sz="9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Работоспособность: Зависит от настроения и самочувствия. Эффективен в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деятельности, требующей тонкого анализа и сосредоточенности.</a:t>
            </a:r>
            <a:endParaRPr sz="9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Отношения: Преданный друг, ценит глубокие отношения, но круг общения узок.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Избегает конфликтов.</a:t>
            </a:r>
            <a:endParaRPr sz="9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898413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3553800" y="260350"/>
            <a:ext cx="8467724" cy="1214089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algn="l">
              <a:lnSpc>
                <a:spcPct val="114999"/>
              </a:lnSpc>
              <a:defRPr/>
            </a:pPr>
            <a:r>
              <a:rPr sz="22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Свойства темперамента (В.Д. Небылицын, В.М. Русалов)</a:t>
            </a:r>
            <a:endParaRPr sz="11000" b="1">
              <a:solidFill>
                <a:schemeClr val="tx1"/>
              </a:solidFill>
            </a:endParaRPr>
          </a:p>
        </p:txBody>
      </p:sp>
      <p:pic>
        <p:nvPicPr>
          <p:cNvPr id="1289130352" name=""/>
          <p:cNvPicPr>
            <a:picLocks noChangeAspect="1"/>
          </p:cNvPicPr>
          <p:nvPr>
            <p:ph type="pic" sz="quarter" idx="13"/>
          </p:nvPr>
        </p:nvPicPr>
        <p:blipFill>
          <a:blip r:embed="rId2"/>
          <a:stretch/>
        </p:blipFill>
        <p:spPr bwMode="auto">
          <a:xfrm rot="0" flipH="0" flipV="0">
            <a:off x="49424" y="1664940"/>
            <a:ext cx="3285299" cy="3285299"/>
          </a:xfrm>
          <a:prstGeom prst="rect">
            <a:avLst/>
          </a:prstGeom>
        </p:spPr>
      </p:pic>
      <p:sp>
        <p:nvSpPr>
          <p:cNvPr id="1877880622" name="Текст 18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3487124" y="1293464"/>
            <a:ext cx="8467725" cy="526926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55000" lnSpcReduction="9000"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1 Сензитивность — порог чувствительности (минимальная сила воздействия,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вызывающая реакцию). У меланхолика — высокая, у флегматика — низкая.</a:t>
            </a:r>
            <a:endParaRPr sz="28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2 Реактивность — сила непроизвольной реакции на раздражители (крик, резкий звук).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У холерика — высокая.</a:t>
            </a:r>
            <a:endParaRPr sz="2800" b="0" i="0" u="none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3 Активность — степень энергичности, с которой человек воздействует на мир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(настойчивость, сосредоточение). Высока у флегматика.</a:t>
            </a:r>
            <a:endParaRPr sz="28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4 Пластичность / Ригидность — легкость приспособления к новому. Пластичен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сангвиник, ригиден флегматик.</a:t>
            </a:r>
            <a:endParaRPr sz="28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5 Темп реакций — скорость психических процессов (речь, походка, соображение).</a:t>
            </a:r>
            <a:endParaRPr sz="28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6 Экстраверсия / Интроверсия — направленность вовне (на людей) или внутрь себя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(на свои мысли).</a:t>
            </a:r>
            <a:endParaRPr sz="28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7 Эмоциональная возбудимость — сила воздействия, необходимая для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возникновения эмоции.</a:t>
            </a:r>
            <a:endParaRPr sz="28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636637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599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sz="4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Темперамент и личность</a:t>
            </a:r>
            <a:endParaRPr sz="16000" b="1">
              <a:solidFill>
                <a:schemeClr val="tx1"/>
              </a:solidFill>
            </a:endParaRPr>
          </a:p>
        </p:txBody>
      </p:sp>
      <p:sp>
        <p:nvSpPr>
          <p:cNvPr id="996075745" name="Текст 18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838200" y="1690688"/>
            <a:ext cx="10444163" cy="43926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>
              <a:lnSpc>
                <a:spcPct val="150000"/>
              </a:lnSpc>
              <a:defRPr/>
            </a:pP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1 Темперамент не определяет способности. Среди выдающихся людей встречались </a:t>
            </a: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все типы (например, Суворов — холерик, Кутузов — флегматик).</a:t>
            </a:r>
            <a:endParaRPr sz="10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2 Темперамент не определяет направленность личности (не делает человека добрым </a:t>
            </a: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или злым, честным или лживым — это сфера воспитания и характера).</a:t>
            </a:r>
            <a:endParaRPr sz="10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3 </a:t>
            </a: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Маскировка</a:t>
            </a: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: В современном мире люди часто сознательно подавляют врожденные </a:t>
            </a: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черты темперамента, подчиняясь требованиям социума и профессии (например, </a:t>
            </a: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холерик может сидеть с невозмутимым лицом в офисе, но внутри все будет «кипеть»).</a:t>
            </a:r>
            <a:endParaRPr sz="10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accent2">
                <a:alpha val="48000"/>
              </a:schemeClr>
            </a:gs>
            <a:gs pos="100000">
              <a:srgbClr val="FFFFFF">
                <a:alpha val="48000"/>
              </a:srgb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583716" name="Заголовок 1"/>
          <p:cNvSpPr>
            <a:spLocks noGrp="1"/>
          </p:cNvSpPr>
          <p:nvPr>
            <p:ph type="ctrTitle"/>
          </p:nvPr>
        </p:nvSpPr>
        <p:spPr bwMode="auto">
          <a:xfrm flipH="0" flipV="0">
            <a:off x="1523999" y="14462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sz="7200" b="1"/>
              <a:t>Современные подходы</a:t>
            </a:r>
            <a:endParaRPr sz="7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534520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790574" y="375612"/>
            <a:ext cx="10515599" cy="69877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algn="ctr">
              <a:lnSpc>
                <a:spcPct val="150000"/>
              </a:lnSpc>
              <a:defRPr/>
            </a:pPr>
            <a:r>
              <a:rPr lang="ru-RU" sz="3600" b="1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Гуморальные теории </a:t>
            </a:r>
            <a:endParaRPr sz="3600" b="1">
              <a:solidFill>
                <a:schemeClr val="tx1"/>
              </a:solidFill>
            </a:endParaRPr>
          </a:p>
        </p:txBody>
      </p:sp>
      <p:sp>
        <p:nvSpPr>
          <p:cNvPr id="1006081896" name="Текст 18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353399" y="1179164"/>
            <a:ext cx="7772400" cy="520065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>
              <a:lnSpc>
                <a:spcPct val="150000"/>
              </a:lnSpc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Связь с гормонами, древнегреческая теория Гиппократа о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четырех жидкостях — истоки названий.</a:t>
            </a:r>
            <a:endParaRPr sz="2000" b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В теле человека текут четыре основные жидкости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:</a:t>
            </a:r>
            <a:endParaRPr sz="2000" b="0" i="0" u="none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кровь;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флегма (слизь);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жёлтая жёлчь;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чёрная жёлчь.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.</a:t>
            </a:r>
            <a:endParaRPr sz="2000" b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Превалирующее значение той или иной жидкости определяло темперамент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, то есть характер человека. Например:</a:t>
            </a:r>
            <a:endParaRPr sz="2000" b="0">
              <a:solidFill>
                <a:schemeClr val="tx1"/>
              </a:solidFill>
            </a:endParaRPr>
          </a:p>
          <a:p>
            <a:pPr marL="228807" indent="-228807">
              <a:lnSpc>
                <a:spcPct val="150000"/>
              </a:lnSpc>
              <a:buFont typeface="Arial"/>
              <a:buChar char="–"/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преобладание жёлтой жёлчи делало человека истеричным и хамоватым, «горячим» — холериком;</a:t>
            </a:r>
            <a:endParaRPr sz="2000" b="0">
              <a:solidFill>
                <a:schemeClr val="tx1"/>
              </a:solidFill>
            </a:endParaRPr>
          </a:p>
          <a:p>
            <a:pPr marL="228807" indent="-228807">
              <a:lnSpc>
                <a:spcPct val="150000"/>
              </a:lnSpc>
              <a:buFont typeface="Arial"/>
              <a:buChar char="–"/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преобладание крови делало человека подвижным и весёлым — сангвиником;</a:t>
            </a:r>
            <a:endParaRPr sz="2000" b="0">
              <a:solidFill>
                <a:schemeClr val="tx1"/>
              </a:solidFill>
            </a:endParaRPr>
          </a:p>
          <a:p>
            <a:pPr marL="228807" indent="-228807">
              <a:lnSpc>
                <a:spcPct val="150000"/>
              </a:lnSpc>
              <a:buFont typeface="Arial"/>
              <a:buChar char="–"/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преобладание чёрной жёлчи делало человека грустным и боязливым — меланхоликом.</a:t>
            </a:r>
            <a:endParaRPr sz="2000" b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Лечение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заключалось в удалении избыточного гумора — обычно это осуществлялось кровопусканием, рвотными и слабительными средствами.</a:t>
            </a:r>
            <a:endParaRPr sz="2000" b="0">
              <a:solidFill>
                <a:schemeClr val="tx1"/>
              </a:solidFill>
            </a:endParaRPr>
          </a:p>
        </p:txBody>
      </p:sp>
      <p:pic>
        <p:nvPicPr>
          <p:cNvPr id="759782335" name=""/>
          <p:cNvPicPr>
            <a:picLocks noChangeAspect="1"/>
          </p:cNvPicPr>
          <p:nvPr/>
        </p:nvPicPr>
        <p:blipFill>
          <a:blip r:embed="rId2"/>
          <a:srcRect l="10423" t="-2067" r="9373" b="2067"/>
          <a:stretch/>
        </p:blipFill>
        <p:spPr bwMode="auto">
          <a:xfrm flipH="0" flipV="0">
            <a:off x="8254172" y="1179164"/>
            <a:ext cx="3929277" cy="4410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532671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5"/>
            <a:ext cx="10515600" cy="92075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algn="ctr"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Конституциональные теории </a:t>
            </a: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(Э. Кречмер, У. Шелдон)</a:t>
            </a:r>
            <a:endParaRPr sz="2400" b="1">
              <a:solidFill>
                <a:schemeClr val="tx1"/>
              </a:solidFill>
            </a:endParaRPr>
          </a:p>
        </p:txBody>
      </p:sp>
      <p:sp>
        <p:nvSpPr>
          <p:cNvPr id="694059140" name="Объект 2"/>
          <p:cNvSpPr>
            <a:spLocks noGrp="1"/>
          </p:cNvSpPr>
          <p:nvPr>
            <p:ph sz="half" idx="1"/>
          </p:nvPr>
        </p:nvSpPr>
        <p:spPr bwMode="auto">
          <a:xfrm flipH="0" flipV="0">
            <a:off x="515324" y="1285875"/>
            <a:ext cx="11534775" cy="522922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Теория Э. Кречмера</a:t>
            </a:r>
            <a:endParaRPr sz="480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1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Э. Кречмер выделил</a:t>
            </a:r>
            <a:r>
              <a:rPr sz="1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четыре конституциональных типа</a:t>
            </a:r>
            <a:r>
              <a:rPr sz="1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: </a:t>
            </a:r>
            <a:endParaRPr sz="48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Лептосоматик</a:t>
            </a:r>
            <a:r>
              <a:rPr sz="1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— хрупкое телосложение, высокий рост, плоская грудная клетка, вытянутое лицо, длинный тонкий нос. Плечи узкие, нижние конечности длинные и худые. Индивидов с крайней выраженностью этих особенностей Кречмер называл астениками.</a:t>
            </a:r>
            <a:endParaRPr sz="48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Пикник</a:t>
            </a:r>
            <a:r>
              <a:rPr sz="1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— особенно выраженная жировая ткань (чрезмерно тучный), маленький или средний рост, расплывшееся туловище, большой живот, круглая голова на короткой шее.</a:t>
            </a:r>
            <a:endParaRPr sz="48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Атлетик</a:t>
            </a:r>
            <a:r>
              <a:rPr sz="1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— развитая мускулатура, крепкое телосложение, высокий или средний рост, широкий плечевой пояс и узкие бёдра, а также выпуклые лицевые кости.</a:t>
            </a:r>
            <a:endParaRPr sz="48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Диспластик</a:t>
            </a:r>
            <a:r>
              <a:rPr sz="1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— бесформенное, неправильное строение тела (например, особенно высокий рост или непропорциональное телосложение).</a:t>
            </a:r>
            <a:endParaRPr sz="48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63317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599" cy="13255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algn="ctr">
              <a:defRPr/>
            </a:pPr>
            <a:r>
              <a:rPr lang="ru-RU" sz="2800" b="1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Конституциональные теории </a:t>
            </a:r>
            <a:r>
              <a:rPr lang="ru-RU" sz="2800" b="1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(Э. Кречмер, У. Шелдон)</a:t>
            </a:r>
            <a:endParaRPr sz="2800" b="1">
              <a:solidFill>
                <a:schemeClr val="tx1"/>
              </a:solidFill>
            </a:endParaRPr>
          </a:p>
          <a:p>
            <a:pPr>
              <a:defRPr/>
            </a:pPr>
            <a:endParaRPr sz="2800"/>
          </a:p>
        </p:txBody>
      </p:sp>
      <p:sp>
        <p:nvSpPr>
          <p:cNvPr id="2027917093" name="Текст 18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838200" y="1690688"/>
            <a:ext cx="10444163" cy="43926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 выделенными типами телосложения Кречмер соотносил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три типа темперамента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: шизотимический, циклотимический и иксотимический. Например: </a:t>
            </a:r>
            <a:endParaRPr sz="7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Шизотимик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— лептосоматик с ярко выраженным астеническим телосложением, ему свойственны замкнутость, эмоциональные перепады, упрямство.</a:t>
            </a:r>
            <a:endParaRPr sz="7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Циклотимик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— пикник с неустойчивой эмоциональной сферой (эмоции колеблются между радостью и печалью, которые с определённой периодичностью сменяют друг друга).</a:t>
            </a:r>
            <a:endParaRPr sz="72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Иксотимик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— атлетик, его характеризуют спокойствие, уравновешенность, сдержанность в выражении эмоций, жестах и мимике, но при этом он обладает невысокой гибкостью мышления.</a:t>
            </a:r>
            <a:endParaRPr sz="7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058704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390402" y="339101"/>
            <a:ext cx="8552534" cy="62322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533085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472281"/>
            <a:ext cx="10515599" cy="95646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algn="ctr">
              <a:defRPr/>
            </a:pPr>
            <a:r>
              <a:rPr lang="ru-RU" sz="2800" b="1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Конституциональные теории </a:t>
            </a:r>
            <a:r>
              <a:rPr lang="ru-RU" sz="2800" b="1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(Э. Кречмер, У. Шелдон)</a:t>
            </a:r>
            <a:endParaRPr sz="2800" b="1">
              <a:solidFill>
                <a:schemeClr val="tx1"/>
              </a:solidFill>
            </a:endParaRPr>
          </a:p>
          <a:p>
            <a:pPr>
              <a:defRPr/>
            </a:pPr>
            <a:endParaRPr sz="2800"/>
          </a:p>
        </p:txBody>
      </p:sp>
      <p:sp>
        <p:nvSpPr>
          <p:cNvPr id="1465732633" name="Текст 18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838200" y="1500187"/>
            <a:ext cx="10444163" cy="45831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>
              <a:lnSpc>
                <a:spcPct val="150000"/>
              </a:lnSpc>
              <a:defRPr/>
            </a:pPr>
            <a:r>
              <a:rPr sz="3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Теория У. Шелдона</a:t>
            </a:r>
            <a:endParaRPr sz="12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У. Шелдон выделил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три типа телосложения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: </a:t>
            </a:r>
            <a:endParaRPr sz="12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Эндоморфный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— относительно слабое телосложение с избытком жировой ткани.</a:t>
            </a:r>
            <a:endParaRPr sz="12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Мезоморфный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— хорошо развита мускульная система, стройное крепкое тело.</a:t>
            </a:r>
            <a:endParaRPr sz="12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Эктоморфный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— организм хрупок и тонок, грудная клетка уплощена, относительно слабое развитие внутренних органов и телосложения.</a:t>
            </a:r>
            <a:endParaRPr sz="12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455272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763137"/>
            <a:ext cx="12192000" cy="5331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77268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599" cy="915458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algn="ctr">
              <a:defRPr/>
            </a:pPr>
            <a:r>
              <a:rPr sz="3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Деятельностный подход</a:t>
            </a:r>
            <a:endParaRPr sz="15000" b="1">
              <a:solidFill>
                <a:schemeClr val="tx1"/>
              </a:solidFill>
            </a:endParaRPr>
          </a:p>
        </p:txBody>
      </p:sp>
      <p:sp>
        <p:nvSpPr>
          <p:cNvPr id="541920500" name="Текст 18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403249" y="1428750"/>
            <a:ext cx="5692750" cy="51434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>
              <a:lnSpc>
                <a:spcPct val="150000"/>
              </a:lnSpc>
              <a:defRPr/>
            </a:pP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Деятельностный подход в психологии предполагает, что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психика и сознание, их развитие и формирование изучаются в различных формах предметной деятельности субъекта</a:t>
            </a:r>
            <a:r>
              <a:rPr sz="20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. Темперамент, по этому подходу, — это проявление врождённых свойств нервной системы, которые обусловливают динамические особенности протекания психических процессов и поведения. </a:t>
            </a:r>
            <a:endParaRPr sz="8000" b="0">
              <a:solidFill>
                <a:schemeClr val="tx1"/>
              </a:solidFill>
            </a:endParaRPr>
          </a:p>
        </p:txBody>
      </p:sp>
      <p:sp>
        <p:nvSpPr>
          <p:cNvPr id="1717431262" name=""/>
          <p:cNvSpPr txBox="1"/>
          <p:nvPr/>
        </p:nvSpPr>
        <p:spPr bwMode="auto">
          <a:xfrm flipH="0" flipV="0">
            <a:off x="6552166" y="1280583"/>
            <a:ext cx="5410963" cy="5029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Особенности деятельностного подхода:</a:t>
            </a:r>
            <a:endParaRPr sz="24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Разделение черт темперамента, связанных с разными аспектами деятельности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. Например, черты, регулирующие физическую, социально-вербальную или умственную деятельность.</a:t>
            </a:r>
            <a:endParaRPr sz="24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Учёт принципа формирования привычек в регуляции поведения</a:t>
            </a:r>
            <a:r>
              <a:rPr sz="18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. Деятельностно-ориентированный подход предполагает, что поведение в сложных, вероятностных и новых ситуациях регулируется иными системами, чем поведение в хорошо усвоенных или в простых ситуациях.</a:t>
            </a:r>
            <a:endParaRPr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17651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599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sz="3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Практическое значение</a:t>
            </a:r>
            <a:endParaRPr sz="15000" b="1">
              <a:solidFill>
                <a:schemeClr val="tx1"/>
              </a:solidFill>
            </a:endParaRPr>
          </a:p>
        </p:txBody>
      </p:sp>
      <p:sp>
        <p:nvSpPr>
          <p:cNvPr id="1139846120" name="Текст 18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838200" y="1690688"/>
            <a:ext cx="10444163" cy="43926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>
              <a:lnSpc>
                <a:spcPct val="150000"/>
              </a:lnSpc>
              <a:defRPr/>
            </a:pP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Знание психологии темперамента необходимо для:</a:t>
            </a:r>
            <a:endParaRPr sz="2200" b="0" i="0" u="none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lnSpc>
                <a:spcPct val="150000"/>
              </a:lnSpc>
              <a:defRPr/>
            </a:pP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Профессионального отбора: (напр., холерики лучше справляются с подвижной </a:t>
            </a: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работой, флегматики — с монотонной).</a:t>
            </a:r>
            <a:endParaRPr sz="10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Педагогики: Индивидуальный подход к ученикам.</a:t>
            </a:r>
            <a:endParaRPr sz="10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Управления: Эффективное распределение задач в команде.</a:t>
            </a:r>
            <a:endParaRPr sz="10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2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· Личных отношений: Понимание причин поведения партнера.</a:t>
            </a:r>
            <a:endParaRPr sz="10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9"/>
          <p:cNvSpPr txBox="1"/>
          <p:nvPr/>
        </p:nvSpPr>
        <p:spPr bwMode="auto">
          <a:xfrm flipH="0" flipV="0">
            <a:off x="146820" y="1443199"/>
            <a:ext cx="5017151" cy="3971600"/>
          </a:xfrm>
          <a:prstGeom prst="rect">
            <a:avLst/>
          </a:prstGeom>
        </p:spPr>
        <p:txBody>
          <a:bodyPr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7200" b="1">
                <a:solidFill>
                  <a:schemeClr val="accent2"/>
                </a:solidFill>
              </a:rPr>
              <a:t>СПАСИБО</a:t>
            </a:r>
            <a:endParaRPr lang="ru-RU" sz="7200" b="1">
              <a:solidFill>
                <a:schemeClr val="accent2"/>
              </a:solidFill>
            </a:endParaRPr>
          </a:p>
          <a:p>
            <a:pPr algn="ctr">
              <a:defRPr/>
            </a:pPr>
            <a:r>
              <a:rPr lang="ru-RU" sz="7200" b="1">
                <a:solidFill>
                  <a:schemeClr val="accent2"/>
                </a:solidFill>
              </a:rPr>
              <a:t>ЗА </a:t>
            </a:r>
            <a:endParaRPr lang="ru-RU" sz="7200" b="1">
              <a:solidFill>
                <a:schemeClr val="accent2"/>
              </a:solidFill>
            </a:endParaRPr>
          </a:p>
          <a:p>
            <a:pPr algn="ctr">
              <a:defRPr/>
            </a:pPr>
            <a:r>
              <a:rPr lang="ru-RU" sz="7200" b="1">
                <a:solidFill>
                  <a:schemeClr val="accent2"/>
                </a:solidFill>
              </a:rPr>
              <a:t>ВНИМАНИЕ</a:t>
            </a:r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63971" y="2774373"/>
            <a:ext cx="7021279" cy="3414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Психологи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B4C8C"/>
      </a:accent1>
      <a:accent2>
        <a:srgbClr val="6DA7F2"/>
      </a:accent2>
      <a:accent3>
        <a:srgbClr val="82B479"/>
      </a:accent3>
      <a:accent4>
        <a:srgbClr val="B2D9A7"/>
      </a:accent4>
      <a:accent5>
        <a:srgbClr val="D96725"/>
      </a:accent5>
      <a:accent6>
        <a:srgbClr val="F29D52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Широкоэкранный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Юрий Козырев</dc:creator>
  <cp:keywords/>
  <dc:description/>
  <dc:identifier/>
  <dc:language/>
  <cp:lastModifiedBy>Матвей Егоров</cp:lastModifiedBy>
  <cp:revision>11</cp:revision>
  <dcterms:created xsi:type="dcterms:W3CDTF">2020-06-21T11:59:54Z</dcterms:created>
  <dcterms:modified xsi:type="dcterms:W3CDTF">2026-03-17T10:44:45Z</dcterms:modified>
  <cp:category/>
  <cp:contentStatus/>
  <cp:version/>
</cp:coreProperties>
</file>